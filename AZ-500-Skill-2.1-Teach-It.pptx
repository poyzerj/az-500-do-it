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19"/>
  </p:notes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3257A-E728-4A58-AC98-B3AD912498B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FD5CE-09DF-4FC2-9F4D-AC7AFBE1D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Draw: Nothing -- you're on this slide 30 seconds. If you want one mark, underline "Secure Networking" on the title as you name the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Build it live, don't show it finished. Two boxes, VNet A and VNet B, dashed line between them for the peering connection -- stop there for a beat. Then write AllowVNetInBound right on the dashed line and underline it. Draw nothing that looks like a firewall or filter anywhere near it -- the blank space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A subnet box with a shield wrapped around its outside edge (subnet NSG), and a VM inside it with its own small shield (NIC NSG). Then two short arrow chains below: inbound arrow passing through the subnet shield first, then the NIC shield, into the VM -- outbound arrow leaving the VM through the NIC shield first, then the subnet shield. Drawing the order reversed between the two arrows is the whole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A short vertical list of rule rows numbered by priority, arrow pointing down the list labeled "lower number wins," and a stop sign at the first row that matches -- nothing below it gets drawn as "evaluated." Underneath, the three default rules each with a small padlock (can't delete, only out-prioritize).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The shield floating by itself first, dotted outline, labeled "does nothing yet." Then an arrow connecting it to a subnet or NIC box, redrawing the outline solid once it lands -- two steps, not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One VM box sitting inside two overlapping rounded shapes labeled ASG: Web and ASG: SQL, to show a VM in two ASGs at once. Then one rule arrow from a single ASG source to a single ASG destination, with a second ASG icon crossed out on either side to flag the one-per-side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One subnet box, one route table icon attached -- emphasize "one" by not drawing a second. Thin gray arrows for the automatic defaults (VNet range, 0.0.0.0/0 -&gt; Internet), then a bold arrow overriding it toward a firewall diamond instead of the internet cloud. Separately, a small sketch for Next Hop Type = None: an arrow that just stops dead against a solid black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Build it in order: hub box, on-prem cloud with a solid S2S line into it, then spoke 1 and spoke 2 each dashed-peered to the hub only -- no line drawn between the two spokes. Trace the missing gap with your pointer when you hit the likely question ("do the spokes talk to each other?").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One gateway box in the hub, four lines fanning out to four labeled endpoints (a laptop for P2S, an on-prem cloud for S2S, another VNet box for VNet-to-VNet, multiple clouds for Multi-Site) -- drawing the gateway box only once makes "never both VPN and ExpressRoute" visual. Separately, three small auth icons -- certificate, RADIUS server, Entra ID -- with "OpenVPN only" written next to the Entra ID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Three or four hub boxes, each with its own spokes, then connect every hub to every other hub directly -- a small mesh, in contrast to Slide 8's single hub. Label it "hub of hubs" as you draw the mesh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Two mini-sketches. First, a line for ExpressRoute drawn thick and fully shaded for MACsec (covers everything, even BGP) next to a second line with a lock icon only on the payload for IPsec (end-to-end, lighter shading). Second, a storage account box with a three-position dial for Public Network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A magnifying glass over VM/VNet/load-balancer boxes only, with a PaaS box drawn grayed-out or crossed beside it to mark scope. List the five tools as tiny icons in a row: a checkmark/X arrow for IP Flow Verify, a fork in the road for Next Hop, two shields merging into one for Effective Security Rules, then Diagnostics/Troubleshoot and a small ledger for Flow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A four-box timeline strip left to right -- Phase 1 (ASG + override), Phase 2 (UDR fight), Phase 3 (gateway/cert/Entra), Phase 4 (magnifying glass) -- circle Phase 2 when you give the "longest to get right" answer. Then, for the live demo's UDR segment specifically, a two-panel before/after sketch: panel one, Spoke2 -&gt; Spoke1 with the peering line winning and the firewall box sitting off to the side unused, route table showing only to-Internet; panel two, same boxes, but the new to-Spoke1 route added and the traffic line now running through the firewall instead of the direct peering line. Leave both panels up side by side rather than erasing panel one -- the before/after pairing is what sells "nothing errored, it was just silently wrong."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Draw: Nothing planned. If the cert roadmap comes up, a simple left-to-right arrow strip works: ENCOR (done) -&gt; ENARSI (next) -&gt; hiatus.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3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1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6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9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7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1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7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0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2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4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34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8691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56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81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96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38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4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EDF15-70E3-4576-B08C-0CB2814DD56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2BB6E-A3FF-4A8B-9F74-BBD2F2402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714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 Network security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AZ-500 </a:t>
            </a:r>
            <a:r>
              <a:rPr lang="en-US" dirty="0"/>
              <a:t>Microsoft Azure Security Technologies</a:t>
            </a:r>
          </a:p>
          <a:p>
            <a:r>
              <a:rPr lang="en-US" b="1" dirty="0"/>
              <a:t>Microsoft Certified: Azure Security Engineer Associate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– Peering Isn’t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500"/>
          </a:bodyPr>
          <a:lstStyle/>
          <a:p>
            <a:r>
              <a:rPr i="0" dirty="0"/>
              <a:t>Scenario: you peer two </a:t>
            </a:r>
            <a:r>
              <a:rPr i="0" dirty="0" err="1"/>
              <a:t>VNets</a:t>
            </a:r>
            <a:r>
              <a:rPr i="0" dirty="0"/>
              <a:t> together</a:t>
            </a:r>
          </a:p>
          <a:p>
            <a:r>
              <a:rPr i="0" dirty="0"/>
              <a:t>What people assume: peering = isolated, segmented networks</a:t>
            </a:r>
          </a:p>
          <a:p>
            <a:r>
              <a:rPr i="0" dirty="0"/>
              <a:t>What actually happens</a:t>
            </a:r>
          </a:p>
          <a:p>
            <a:pPr lvl="1"/>
            <a:r>
              <a:rPr i="0" dirty="0" err="1"/>
              <a:t>AllowVNetInBound</a:t>
            </a:r>
            <a:r>
              <a:rPr i="0" dirty="0"/>
              <a:t> (priority 65000) allows everything inside the </a:t>
            </a:r>
            <a:r>
              <a:rPr i="0" dirty="0" err="1"/>
              <a:t>VNet</a:t>
            </a:r>
            <a:r>
              <a:rPr i="0" dirty="0"/>
              <a:t> address space by default</a:t>
            </a:r>
          </a:p>
          <a:p>
            <a:pPr lvl="1"/>
            <a:r>
              <a:rPr i="0" dirty="0"/>
              <a:t>It’s a platform default – you can’t delete it, only override it with a lower-priority rule</a:t>
            </a:r>
          </a:p>
          <a:p>
            <a:pPr lvl="1"/>
            <a:r>
              <a:rPr i="0" dirty="0"/>
              <a:t>Nothing warns you this is open</a:t>
            </a:r>
          </a:p>
          <a:p>
            <a:r>
              <a:rPr i="0" dirty="0"/>
              <a:t>Same story on the routing side</a:t>
            </a:r>
          </a:p>
          <a:p>
            <a:pPr lvl="1"/>
            <a:r>
              <a:rPr i="0" dirty="0"/>
              <a:t>Peering adds a route automatically – no firewall sits in that path unless you put one there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NSGs – Where They Apply &amp; Evaluation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rPr i="0" dirty="0"/>
              <a:t>Two places to apply an NSG</a:t>
            </a:r>
          </a:p>
          <a:p>
            <a:pPr lvl="1"/>
            <a:r>
              <a:rPr i="0" dirty="0"/>
              <a:t>On a subnet – </a:t>
            </a:r>
            <a:r>
              <a:rPr lang="en-US" i="0" dirty="0"/>
              <a:t>a</a:t>
            </a:r>
            <a:r>
              <a:rPr i="0" dirty="0"/>
              <a:t> rule set </a:t>
            </a:r>
            <a:r>
              <a:rPr lang="en-US" i="0" dirty="0"/>
              <a:t>that </a:t>
            </a:r>
            <a:r>
              <a:rPr i="0" dirty="0"/>
              <a:t>covers everything in it</a:t>
            </a:r>
          </a:p>
          <a:p>
            <a:pPr lvl="1"/>
            <a:r>
              <a:rPr i="0" dirty="0"/>
              <a:t>On a network interface (NIC) – </a:t>
            </a:r>
            <a:r>
              <a:rPr lang="en-US" i="0" dirty="0"/>
              <a:t>a rule set per VM</a:t>
            </a:r>
            <a:endParaRPr i="0" dirty="0"/>
          </a:p>
          <a:p>
            <a:pPr lvl="1"/>
            <a:r>
              <a:rPr i="0" dirty="0"/>
              <a:t>Both can be used together on the same path</a:t>
            </a:r>
          </a:p>
          <a:p>
            <a:r>
              <a:rPr i="0" dirty="0"/>
              <a:t>Evaluation order matters</a:t>
            </a:r>
          </a:p>
          <a:p>
            <a:pPr lvl="1"/>
            <a:r>
              <a:rPr i="0" dirty="0"/>
              <a:t>Inbound: subnet rules evaluated first, then NIC rules</a:t>
            </a:r>
          </a:p>
          <a:p>
            <a:pPr lvl="1"/>
            <a:r>
              <a:rPr i="0" dirty="0"/>
              <a:t>Outbound: NIC rules evaluated first, then subnet rules</a:t>
            </a:r>
          </a:p>
          <a:p>
            <a:pPr lvl="1"/>
            <a:r>
              <a:rPr i="0" dirty="0"/>
              <a:t>Traffic stops evaluating as soon as one rule matches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NSG Rules – Parameters &amp; Defaults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 fontScale="87500" lnSpcReduction="20000"/>
          </a:bodyPr>
          <a:lstStyle/>
          <a:p>
            <a:r>
              <a:rPr i="0" dirty="0"/>
              <a:t>Rule parameters </a:t>
            </a:r>
            <a:endParaRPr lang="en-US" dirty="0"/>
          </a:p>
          <a:p>
            <a:pPr lvl="1"/>
            <a:r>
              <a:rPr i="0" dirty="0"/>
              <a:t>Name</a:t>
            </a:r>
          </a:p>
          <a:p>
            <a:pPr lvl="1"/>
            <a:r>
              <a:rPr i="0" dirty="0"/>
              <a:t>Priority – 100–4096, lower number wins</a:t>
            </a:r>
          </a:p>
          <a:p>
            <a:pPr lvl="1"/>
            <a:r>
              <a:rPr i="0" dirty="0"/>
              <a:t>Source / Destination – IP, CIDR</a:t>
            </a:r>
            <a:r>
              <a:rPr lang="en-US" i="0" dirty="0"/>
              <a:t> Block</a:t>
            </a:r>
            <a:r>
              <a:rPr i="0" dirty="0"/>
              <a:t>, Service Tag, or ASG</a:t>
            </a:r>
          </a:p>
          <a:p>
            <a:pPr lvl="1"/>
            <a:r>
              <a:rPr i="0" dirty="0"/>
              <a:t>Protocol – TCP, UDP, ICMP, or Any</a:t>
            </a:r>
          </a:p>
          <a:p>
            <a:pPr lvl="1"/>
            <a:r>
              <a:rPr i="0" dirty="0"/>
              <a:t>Port range</a:t>
            </a:r>
          </a:p>
          <a:p>
            <a:pPr lvl="1"/>
            <a:r>
              <a:rPr i="0" dirty="0"/>
              <a:t>Action – Allow or Deny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87500" lnSpcReduction="20000"/>
          </a:bodyPr>
          <a:lstStyle/>
          <a:p>
            <a:r>
              <a:rPr i="0" dirty="0"/>
              <a:t>Default rules – can’t delete, only override</a:t>
            </a:r>
          </a:p>
          <a:p>
            <a:pPr lvl="1"/>
            <a:r>
              <a:rPr i="0" dirty="0" err="1"/>
              <a:t>AllowVNetInBound</a:t>
            </a:r>
            <a:r>
              <a:rPr i="0" dirty="0"/>
              <a:t> (65000)</a:t>
            </a:r>
          </a:p>
          <a:p>
            <a:pPr lvl="1"/>
            <a:r>
              <a:rPr i="0" dirty="0" err="1"/>
              <a:t>AllowAzureLoadBalancerInBound</a:t>
            </a:r>
            <a:r>
              <a:rPr i="0" dirty="0"/>
              <a:t> (65001)</a:t>
            </a:r>
          </a:p>
          <a:p>
            <a:pPr lvl="1"/>
            <a:r>
              <a:rPr i="0" dirty="0" err="1"/>
              <a:t>DenyAllInbound</a:t>
            </a:r>
            <a:r>
              <a:rPr i="0" dirty="0"/>
              <a:t> (65500)</a:t>
            </a:r>
          </a:p>
          <a:p>
            <a:pPr lvl="1"/>
            <a:r>
              <a:rPr i="0" dirty="0"/>
              <a:t>Same pattern on the outbound side</a:t>
            </a:r>
          </a:p>
          <a:p>
            <a:r>
              <a:rPr i="0" dirty="0"/>
              <a:t>Removing a rule doesn’t kill an existing connection instantly</a:t>
            </a:r>
          </a:p>
          <a:p>
            <a:pPr lvl="1"/>
            <a:r>
              <a:rPr i="0" dirty="0"/>
              <a:t>The interruption only happens once there’s no traffic in either direction for a few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&amp; Associating an NSG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2000" lnSpcReduction="10000"/>
          </a:bodyPr>
          <a:lstStyle/>
          <a:p>
            <a:r>
              <a:rPr i="0" dirty="0"/>
              <a:t>Portal: Network Security Groups → Add → set Subscription / Resource Group / Name / Region → Review + Create</a:t>
            </a:r>
          </a:p>
          <a:p>
            <a:r>
              <a:rPr i="0" dirty="0"/>
              <a:t>PowerShell:</a:t>
            </a:r>
          </a:p>
          <a:p>
            <a:pPr lvl="1"/>
            <a:r>
              <a:rPr i="1" dirty="0"/>
              <a:t>New-</a:t>
            </a:r>
            <a:r>
              <a:rPr i="1" dirty="0" err="1"/>
              <a:t>AzNetworkSecurityGroup</a:t>
            </a:r>
            <a:r>
              <a:rPr i="1" dirty="0"/>
              <a:t> -Name “AZ500NSG” -</a:t>
            </a:r>
            <a:r>
              <a:rPr i="1" dirty="0" err="1"/>
              <a:t>ResourceGroupName</a:t>
            </a:r>
            <a:r>
              <a:rPr i="1" dirty="0"/>
              <a:t> “AZ500RG” -Location “</a:t>
            </a:r>
            <a:r>
              <a:rPr i="1" dirty="0" err="1"/>
              <a:t>westus</a:t>
            </a:r>
            <a:r>
              <a:rPr i="1" dirty="0"/>
              <a:t>”</a:t>
            </a:r>
          </a:p>
          <a:p>
            <a:r>
              <a:rPr i="0" dirty="0"/>
              <a:t>Adding a rule (portal): NSG → Inbound Security Rules → Add</a:t>
            </a:r>
          </a:p>
          <a:p>
            <a:r>
              <a:rPr i="0" dirty="0"/>
              <a:t>PowerShell equivalent:</a:t>
            </a:r>
          </a:p>
          <a:p>
            <a:pPr lvl="1"/>
            <a:r>
              <a:rPr i="1" dirty="0"/>
              <a:t>New-</a:t>
            </a:r>
            <a:r>
              <a:rPr i="1" dirty="0" err="1"/>
              <a:t>AzNetworkSecurityRuleConfig</a:t>
            </a:r>
            <a:r>
              <a:rPr i="1" dirty="0"/>
              <a:t> -Name ftp-rule -Access Allow -Protocol </a:t>
            </a:r>
            <a:r>
              <a:rPr i="1" dirty="0" err="1"/>
              <a:t>Tcp</a:t>
            </a:r>
            <a:r>
              <a:rPr i="1" dirty="0"/>
              <a:t> -Direction Inbound -Priority 100 …</a:t>
            </a:r>
          </a:p>
          <a:p>
            <a:r>
              <a:rPr i="0" dirty="0"/>
              <a:t>An NSG does nothing until it’s associated to a subnet or a NIC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Security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0000" lnSpcReduction="10000"/>
          </a:bodyPr>
          <a:lstStyle/>
          <a:p>
            <a:r>
              <a:rPr i="0" dirty="0"/>
              <a:t>Group VMs by application role, not by IP</a:t>
            </a:r>
          </a:p>
          <a:p>
            <a:r>
              <a:rPr i="0" dirty="0"/>
              <a:t>One ASG as source</a:t>
            </a:r>
            <a:r>
              <a:rPr lang="en-US" i="0" dirty="0"/>
              <a:t> or</a:t>
            </a:r>
            <a:r>
              <a:rPr i="0" dirty="0"/>
              <a:t> one ASG as destination – per rule</a:t>
            </a:r>
          </a:p>
          <a:p>
            <a:pPr lvl="1"/>
            <a:r>
              <a:rPr i="0" dirty="0"/>
              <a:t>Not multiple ASGs on either side of the same rule</a:t>
            </a:r>
          </a:p>
          <a:p>
            <a:r>
              <a:rPr i="0" dirty="0"/>
              <a:t>A VM with multiple workloads can belong to multiple ASGs</a:t>
            </a:r>
          </a:p>
          <a:p>
            <a:pPr lvl="1"/>
            <a:r>
              <a:rPr i="0" dirty="0"/>
              <a:t>Each workload gets its own access rules</a:t>
            </a:r>
          </a:p>
          <a:p>
            <a:r>
              <a:rPr i="0" dirty="0"/>
              <a:t>PowerShell:</a:t>
            </a:r>
          </a:p>
          <a:p>
            <a:pPr lvl="1"/>
            <a:r>
              <a:rPr i="1" dirty="0"/>
              <a:t>New-</a:t>
            </a:r>
            <a:r>
              <a:rPr i="1" dirty="0" err="1"/>
              <a:t>AzApplicationSecurityGroup</a:t>
            </a:r>
            <a:r>
              <a:rPr i="1" dirty="0"/>
              <a:t> -</a:t>
            </a:r>
            <a:r>
              <a:rPr i="1" dirty="0" err="1"/>
              <a:t>ResourceGroupName</a:t>
            </a:r>
            <a:r>
              <a:rPr i="1" dirty="0"/>
              <a:t> “</a:t>
            </a:r>
            <a:r>
              <a:rPr i="1" dirty="0" err="1"/>
              <a:t>MyRG</a:t>
            </a:r>
            <a:r>
              <a:rPr i="1" dirty="0"/>
              <a:t>” -Name “MyASG” -Location “West US”</a:t>
            </a:r>
          </a:p>
          <a:p>
            <a:r>
              <a:rPr i="0" dirty="0"/>
              <a:t>Associate: VM → Networking → Application Security Group</a:t>
            </a:r>
            <a:r>
              <a:rPr lang="en-US" i="0" dirty="0"/>
              <a:t>s</a:t>
            </a:r>
            <a:r>
              <a:rPr i="0" dirty="0"/>
              <a:t> → Add</a:t>
            </a:r>
            <a:r>
              <a:rPr lang="en-US" i="0" dirty="0"/>
              <a:t> application security groups</a:t>
            </a:r>
            <a:endParaRPr i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User-Defined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60090"/>
            <a:ext cx="9905999" cy="4279392"/>
          </a:xfrm>
        </p:spPr>
        <p:txBody>
          <a:bodyPr wrap="square">
            <a:normAutofit fontScale="78500" lnSpcReduction="10000"/>
          </a:bodyPr>
          <a:lstStyle/>
          <a:p>
            <a:r>
              <a:rPr i="0" dirty="0"/>
              <a:t>Azure creates default routes automatically</a:t>
            </a:r>
          </a:p>
          <a:p>
            <a:pPr lvl="1"/>
            <a:r>
              <a:rPr i="0" dirty="0"/>
              <a:t>One per </a:t>
            </a:r>
            <a:r>
              <a:rPr i="0" dirty="0" err="1"/>
              <a:t>VNet</a:t>
            </a:r>
            <a:r>
              <a:rPr i="0" dirty="0"/>
              <a:t> address range</a:t>
            </a:r>
            <a:endParaRPr lang="en-US" i="0" dirty="0"/>
          </a:p>
          <a:p>
            <a:pPr lvl="1"/>
            <a:r>
              <a:rPr lang="en-US" i="0" dirty="0"/>
              <a:t>Same route also covers subnet-to-subnet traffic – no manual routes or gateways needed within a </a:t>
            </a:r>
            <a:r>
              <a:rPr lang="en-US" i="0" dirty="0" err="1"/>
              <a:t>VNet</a:t>
            </a:r>
            <a:endParaRPr i="0" dirty="0"/>
          </a:p>
          <a:p>
            <a:pPr lvl="1"/>
            <a:r>
              <a:rPr lang="en-US" dirty="0"/>
              <a:t>A default </a:t>
            </a:r>
            <a:r>
              <a:rPr i="0" dirty="0"/>
              <a:t>0.0.0.0/0 → Internet</a:t>
            </a:r>
            <a:r>
              <a:rPr lang="en-US" i="0" dirty="0"/>
              <a:t> route</a:t>
            </a:r>
            <a:endParaRPr i="0" dirty="0"/>
          </a:p>
          <a:p>
            <a:pPr lvl="1"/>
            <a:r>
              <a:rPr lang="en-US" i="0" dirty="0"/>
              <a:t>Azure adds routes for </a:t>
            </a:r>
            <a:r>
              <a:rPr lang="en-US" i="0" dirty="0" err="1"/>
              <a:t>VNet</a:t>
            </a:r>
            <a:r>
              <a:rPr lang="en-US" i="0" dirty="0"/>
              <a:t> </a:t>
            </a:r>
            <a:r>
              <a:rPr i="0" dirty="0"/>
              <a:t>Peering, </a:t>
            </a:r>
            <a:r>
              <a:rPr lang="en-US" i="0" dirty="0"/>
              <a:t>Virtual Network </a:t>
            </a:r>
            <a:r>
              <a:rPr lang="en-US" dirty="0"/>
              <a:t>G</a:t>
            </a:r>
            <a:r>
              <a:rPr i="0" dirty="0"/>
              <a:t>ateways, and </a:t>
            </a:r>
            <a:r>
              <a:rPr lang="en-US" i="0" dirty="0"/>
              <a:t>S</a:t>
            </a:r>
            <a:r>
              <a:rPr i="0" dirty="0"/>
              <a:t>ervice </a:t>
            </a:r>
            <a:r>
              <a:rPr lang="en-US" dirty="0"/>
              <a:t>E</a:t>
            </a:r>
            <a:r>
              <a:rPr i="0" dirty="0"/>
              <a:t>ndpoints</a:t>
            </a:r>
            <a:r>
              <a:rPr lang="en-US" dirty="0"/>
              <a:t> are they are created</a:t>
            </a:r>
          </a:p>
          <a:p>
            <a:pPr lvl="1"/>
            <a:r>
              <a:rPr lang="en-US" dirty="0"/>
              <a:t>Next Hop Type = None – automatically dropped</a:t>
            </a:r>
            <a:endParaRPr i="0" dirty="0"/>
          </a:p>
          <a:p>
            <a:r>
              <a:rPr i="0" dirty="0"/>
              <a:t>Only create a custom route to override default behavior</a:t>
            </a:r>
            <a:endParaRPr lang="en-US" i="0" dirty="0"/>
          </a:p>
          <a:p>
            <a:pPr lvl="1"/>
            <a:r>
              <a:rPr lang="en-US" i="0" dirty="0"/>
              <a:t>Create a route table</a:t>
            </a:r>
          </a:p>
          <a:p>
            <a:pPr lvl="1"/>
            <a:r>
              <a:rPr lang="en-US" i="0" dirty="0"/>
              <a:t>Create the custom route</a:t>
            </a:r>
            <a:endParaRPr i="0" dirty="0"/>
          </a:p>
          <a:p>
            <a:pPr lvl="2"/>
            <a:r>
              <a:rPr i="0" dirty="0"/>
              <a:t>Classic case: point 0.0.0.0/0 at a firewall or </a:t>
            </a:r>
            <a:r>
              <a:rPr lang="en-US" i="0" dirty="0"/>
              <a:t>Virtual Appliance</a:t>
            </a:r>
            <a:r>
              <a:rPr i="0" dirty="0"/>
              <a:t> so it can inspect traffic firs</a:t>
            </a:r>
            <a:r>
              <a:rPr lang="en-US" i="0" dirty="0"/>
              <a:t>t</a:t>
            </a:r>
          </a:p>
          <a:p>
            <a:pPr lvl="1"/>
            <a:r>
              <a:rPr lang="en-US" i="0" dirty="0"/>
              <a:t>Associate to a subnet</a:t>
            </a:r>
            <a:endParaRPr i="0" dirty="0"/>
          </a:p>
          <a:p>
            <a:r>
              <a:rPr i="0" dirty="0"/>
              <a:t>A subnet only gets one route table – user-defined routes win over default routes on conflict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VNet Peering &amp; Hub-Spoke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500" y="2050000"/>
            <a:ext cx="6300000" cy="4268504"/>
          </a:xfrm>
        </p:spPr>
        <p:txBody>
          <a:bodyPr wrap="square">
            <a:normAutofit fontScale="80000" lnSpcReduction="10000"/>
          </a:bodyPr>
          <a:lstStyle/>
          <a:p>
            <a:r>
              <a:rPr i="0" dirty="0"/>
              <a:t>Connects </a:t>
            </a:r>
            <a:r>
              <a:rPr i="0" dirty="0" err="1"/>
              <a:t>VNets</a:t>
            </a:r>
            <a:r>
              <a:rPr i="0" dirty="0"/>
              <a:t> – same region, or cross-region (Global </a:t>
            </a:r>
            <a:r>
              <a:rPr i="0" dirty="0" err="1"/>
              <a:t>VNet</a:t>
            </a:r>
            <a:r>
              <a:rPr i="0" dirty="0"/>
              <a:t> Peering)</a:t>
            </a:r>
          </a:p>
          <a:p>
            <a:r>
              <a:rPr i="0" dirty="0"/>
              <a:t>Peered traffic never touches a gateway or the public internet</a:t>
            </a:r>
          </a:p>
          <a:p>
            <a:pPr lvl="1"/>
            <a:r>
              <a:rPr i="0" dirty="0"/>
              <a:t>It’s routed directly over the Microsoft backbone</a:t>
            </a:r>
            <a:endParaRPr lang="en-US" i="0" dirty="0"/>
          </a:p>
          <a:p>
            <a:r>
              <a:rPr lang="en-US" i="0" dirty="0"/>
              <a:t>A peered </a:t>
            </a:r>
            <a:r>
              <a:rPr lang="en-US" i="0" dirty="0" err="1"/>
              <a:t>VNet</a:t>
            </a:r>
            <a:r>
              <a:rPr lang="en-US" i="0" dirty="0"/>
              <a:t> can have its own gateway, and the </a:t>
            </a:r>
            <a:r>
              <a:rPr lang="en-US" i="0" dirty="0" err="1"/>
              <a:t>VNet</a:t>
            </a:r>
            <a:r>
              <a:rPr lang="en-US" i="0" dirty="0"/>
              <a:t> can use its gateway to connect to an on-prem network</a:t>
            </a:r>
            <a:endParaRPr i="0" dirty="0"/>
          </a:p>
          <a:p>
            <a:r>
              <a:rPr i="0" dirty="0"/>
              <a:t>Hub-spoke pattern</a:t>
            </a:r>
          </a:p>
          <a:p>
            <a:pPr lvl="1"/>
            <a:r>
              <a:rPr i="0" dirty="0"/>
              <a:t>Hub = central connectivity point to on-prem</a:t>
            </a:r>
          </a:p>
          <a:p>
            <a:pPr lvl="1"/>
            <a:r>
              <a:rPr i="0" dirty="0"/>
              <a:t>Spokes peer to the hub, </a:t>
            </a:r>
            <a:r>
              <a:rPr lang="en-US" i="0" dirty="0"/>
              <a:t>allowing</a:t>
            </a:r>
            <a:r>
              <a:rPr i="0" dirty="0"/>
              <a:t> isolation from each other</a:t>
            </a:r>
            <a:endParaRPr lang="en-US" i="0" dirty="0"/>
          </a:p>
          <a:p>
            <a:pPr lvl="1"/>
            <a:r>
              <a:rPr lang="en-US" i="0" dirty="0"/>
              <a:t>A hybrid network uses the hub-spoke architecture to route traffic between Azure </a:t>
            </a:r>
            <a:r>
              <a:rPr lang="en-US" i="0" dirty="0" err="1"/>
              <a:t>VNets</a:t>
            </a:r>
            <a:r>
              <a:rPr lang="en-US" i="0" dirty="0"/>
              <a:t> and on-prem networks via S2S VPN</a:t>
            </a:r>
            <a:endParaRPr i="0" dirty="0"/>
          </a:p>
          <a:p>
            <a:pPr lvl="2"/>
            <a:r>
              <a:rPr i="0" dirty="0"/>
              <a:t>A site-to-site connection needs a dedicated </a:t>
            </a:r>
            <a:r>
              <a:rPr i="0" dirty="0" err="1"/>
              <a:t>GatewaySubnet</a:t>
            </a:r>
            <a:r>
              <a:rPr i="0" dirty="0"/>
              <a:t> in the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00000" y="19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FFFFFF"/>
                </a:solidFill>
              </a:rPr>
              <a:t>Hub-and-Spoke – spokes isolated from each other, connected through the hub</a:t>
            </a:r>
          </a:p>
        </p:txBody>
      </p:sp>
      <p:sp>
        <p:nvSpPr>
          <p:cNvPr id="5" name="Oval 4"/>
          <p:cNvSpPr/>
          <p:nvPr/>
        </p:nvSpPr>
        <p:spPr>
          <a:xfrm>
            <a:off x="9225000" y="2475000"/>
            <a:ext cx="950000" cy="950000"/>
          </a:xfrm>
          <a:prstGeom prst="ellipse">
            <a:avLst/>
          </a:prstGeom>
          <a:solidFill>
            <a:srgbClr val="7C96A3"/>
          </a:solidFill>
          <a:ln>
            <a:solidFill>
              <a:srgbClr val="7C9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Hub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VNet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8250000" y="3425000"/>
            <a:ext cx="1450000" cy="1075000"/>
          </a:xfrm>
          <a:prstGeom prst="line">
            <a:avLst/>
          </a:prstGeom>
          <a:ln w="28575">
            <a:solidFill>
              <a:srgbClr val="7C96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800000" y="4500000"/>
            <a:ext cx="900000" cy="900000"/>
          </a:xfrm>
          <a:prstGeom prst="ellipse">
            <a:avLst/>
          </a:prstGeom>
          <a:solidFill>
            <a:srgbClr val="7C96A3"/>
          </a:solidFill>
          <a:ln>
            <a:solidFill>
              <a:srgbClr val="7C9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Spoke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0699820" y="4475664"/>
            <a:ext cx="900000" cy="900000"/>
          </a:xfrm>
          <a:prstGeom prst="ellipse">
            <a:avLst/>
          </a:prstGeom>
          <a:solidFill>
            <a:srgbClr val="7C96A3"/>
          </a:solidFill>
          <a:ln>
            <a:solidFill>
              <a:srgbClr val="7C9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Spoke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00000" y="3425000"/>
            <a:ext cx="1450000" cy="1075000"/>
          </a:xfrm>
          <a:prstGeom prst="line">
            <a:avLst/>
          </a:prstGeom>
          <a:ln w="28575">
            <a:solidFill>
              <a:srgbClr val="7C96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VPN Gateway &amp;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4114738"/>
          </a:xfrm>
        </p:spPr>
        <p:txBody>
          <a:bodyPr wrap="square">
            <a:normAutofit fontScale="87500" lnSpcReduction="20000"/>
          </a:bodyPr>
          <a:lstStyle/>
          <a:p>
            <a:r>
              <a:rPr i="0" dirty="0"/>
              <a:t>Connection types</a:t>
            </a:r>
          </a:p>
          <a:p>
            <a:pPr lvl="1"/>
            <a:r>
              <a:rPr i="0" dirty="0"/>
              <a:t>Point-to-Site (P2S) –</a:t>
            </a:r>
            <a:r>
              <a:rPr lang="en-US" i="0" dirty="0"/>
              <a:t> connects</a:t>
            </a:r>
            <a:r>
              <a:rPr i="0" dirty="0"/>
              <a:t> </a:t>
            </a:r>
            <a:r>
              <a:rPr lang="en-US" i="0" dirty="0"/>
              <a:t>individual</a:t>
            </a:r>
            <a:r>
              <a:rPr i="0" dirty="0"/>
              <a:t> users</a:t>
            </a:r>
            <a:r>
              <a:rPr lang="en-US" dirty="0"/>
              <a:t> to Azure remotely</a:t>
            </a:r>
          </a:p>
          <a:p>
            <a:pPr lvl="1"/>
            <a:r>
              <a:rPr i="0" dirty="0"/>
              <a:t>Site-to-Site (S2S) – </a:t>
            </a:r>
            <a:r>
              <a:rPr lang="en-US" i="0" dirty="0"/>
              <a:t>connects </a:t>
            </a:r>
            <a:r>
              <a:rPr i="0" dirty="0"/>
              <a:t>on-prem to Azure, IPsec (IKEv1 or IKEv2)</a:t>
            </a:r>
          </a:p>
          <a:p>
            <a:pPr lvl="1"/>
            <a:r>
              <a:rPr i="0" dirty="0" err="1"/>
              <a:t>VNet</a:t>
            </a:r>
            <a:r>
              <a:rPr i="0" dirty="0"/>
              <a:t>-to-</a:t>
            </a:r>
            <a:r>
              <a:rPr i="0" dirty="0" err="1"/>
              <a:t>VNet</a:t>
            </a:r>
            <a:r>
              <a:rPr i="0" dirty="0"/>
              <a:t> – I</a:t>
            </a:r>
            <a:r>
              <a:rPr lang="en-US" dirty="0"/>
              <a:t>P</a:t>
            </a:r>
            <a:r>
              <a:rPr i="0" dirty="0"/>
              <a:t>sec</a:t>
            </a:r>
            <a:r>
              <a:rPr lang="en-US" i="0" dirty="0"/>
              <a:t> encryption</a:t>
            </a:r>
            <a:r>
              <a:rPr i="0" dirty="0"/>
              <a:t> between two </a:t>
            </a:r>
            <a:r>
              <a:rPr i="0" dirty="0" err="1"/>
              <a:t>VNets</a:t>
            </a:r>
            <a:endParaRPr i="0" dirty="0"/>
          </a:p>
          <a:p>
            <a:pPr lvl="1"/>
            <a:r>
              <a:rPr i="0" dirty="0"/>
              <a:t>Multi-Site – extension of S2S</a:t>
            </a:r>
            <a:r>
              <a:rPr lang="en-US" i="0" dirty="0"/>
              <a:t>, allows multiple on-prem sites to access a virtual network</a:t>
            </a:r>
            <a:endParaRPr i="0" dirty="0"/>
          </a:p>
          <a:p>
            <a:r>
              <a:rPr i="0" dirty="0"/>
              <a:t>One gateway per </a:t>
            </a:r>
            <a:r>
              <a:rPr i="0" dirty="0" err="1"/>
              <a:t>VNet</a:t>
            </a:r>
            <a:r>
              <a:rPr i="0" dirty="0"/>
              <a:t> – VPN or ExpressRoute, never both</a:t>
            </a:r>
            <a:endParaRPr lang="en-US" i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87500" lnSpcReduction="20000"/>
          </a:bodyPr>
          <a:lstStyle/>
          <a:p>
            <a:r>
              <a:rPr lang="en-US" dirty="0"/>
              <a:t>ExpressRoute is the alternative to VPN – private WAN connection to Azure</a:t>
            </a:r>
          </a:p>
          <a:p>
            <a:pPr lvl="1"/>
            <a:r>
              <a:rPr lang="en-US" dirty="0"/>
              <a:t>Not over public internet</a:t>
            </a:r>
            <a:endParaRPr lang="en-US" i="0" dirty="0"/>
          </a:p>
          <a:p>
            <a:r>
              <a:rPr i="0" dirty="0"/>
              <a:t>Authentication</a:t>
            </a:r>
          </a:p>
          <a:p>
            <a:pPr lvl="1"/>
            <a:r>
              <a:rPr i="0" dirty="0"/>
              <a:t>Pre-shared key – auto-generated, up to 128 characters</a:t>
            </a:r>
          </a:p>
          <a:p>
            <a:pPr lvl="1"/>
            <a:r>
              <a:rPr i="0" dirty="0"/>
              <a:t>P2S: Azure certificate, RADIUS (VpnGw1–3 only), or Azure AD (OpenVPN only)</a:t>
            </a:r>
          </a:p>
          <a:p>
            <a:pPr lvl="1"/>
            <a:r>
              <a:rPr i="0" dirty="0"/>
              <a:t>MFA can be scoped to just VPN users via Conditional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75104"/>
            <a:ext cx="9905999" cy="4264377"/>
          </a:xfrm>
        </p:spPr>
        <p:txBody>
          <a:bodyPr wrap="square">
            <a:normAutofit fontScale="89500" lnSpcReduction="20000"/>
          </a:bodyPr>
          <a:lstStyle/>
          <a:p>
            <a:r>
              <a:rPr i="0" dirty="0"/>
              <a:t>Hub-and-spoke </a:t>
            </a:r>
            <a:r>
              <a:rPr lang="en-US" i="0" dirty="0"/>
              <a:t>architecture that enables branch office, end user, and HQ connectivity with ExpressRoute circuits</a:t>
            </a:r>
            <a:r>
              <a:rPr lang="en-US" dirty="0"/>
              <a:t>, and virtual networks</a:t>
            </a:r>
          </a:p>
          <a:p>
            <a:pPr lvl="1"/>
            <a:r>
              <a:rPr lang="en-US" i="0" dirty="0"/>
              <a:t>Azure regions work as hubs that you can connect to</a:t>
            </a:r>
            <a:endParaRPr i="0" dirty="0"/>
          </a:p>
          <a:p>
            <a:pPr lvl="1"/>
            <a:r>
              <a:rPr i="0" dirty="0"/>
              <a:t>Hubs connect in a full mesh over the Microsoft backbone</a:t>
            </a:r>
          </a:p>
          <a:p>
            <a:r>
              <a:rPr i="0" dirty="0"/>
              <a:t>Planning notes</a:t>
            </a:r>
          </a:p>
          <a:p>
            <a:pPr lvl="1"/>
            <a:r>
              <a:rPr i="0" dirty="0"/>
              <a:t>Partner NVAs can deploy into a hub, but aren’t required – any IKEv1/IKEv2-IPsec </a:t>
            </a:r>
            <a:r>
              <a:rPr lang="en-US" i="0" dirty="0"/>
              <a:t>VPN </a:t>
            </a:r>
            <a:r>
              <a:rPr i="0" dirty="0"/>
              <a:t>device works</a:t>
            </a:r>
          </a:p>
          <a:p>
            <a:pPr lvl="1"/>
            <a:r>
              <a:rPr i="0" dirty="0"/>
              <a:t>1,000 connections per virtual hub</a:t>
            </a:r>
          </a:p>
          <a:p>
            <a:pPr lvl="1"/>
            <a:r>
              <a:rPr i="0" dirty="0"/>
              <a:t>A spoke </a:t>
            </a:r>
            <a:r>
              <a:rPr i="0" dirty="0" err="1"/>
              <a:t>VNet</a:t>
            </a:r>
            <a:r>
              <a:rPr i="0" dirty="0"/>
              <a:t> on a hub can’t also have its own gateway or route server</a:t>
            </a:r>
          </a:p>
          <a:p>
            <a:pPr lvl="1"/>
            <a:r>
              <a:rPr i="0" dirty="0"/>
              <a:t>BGP is supported for VPN connectivity</a:t>
            </a:r>
          </a:p>
          <a:p>
            <a:pPr lvl="1"/>
            <a:r>
              <a:rPr lang="en-US" i="0" dirty="0"/>
              <a:t>By </a:t>
            </a:r>
            <a:r>
              <a:rPr lang="en-US" dirty="0"/>
              <a:t>d</a:t>
            </a:r>
            <a:r>
              <a:rPr lang="en-US" i="0" dirty="0"/>
              <a:t>efault, traffic egressing to Azure favors ExpressRoute over VPN – customizable</a:t>
            </a:r>
            <a:endParaRPr i="0" dirty="0"/>
          </a:p>
          <a:p>
            <a:pPr lvl="1"/>
            <a:r>
              <a:rPr i="0" dirty="0"/>
              <a:t>Portal-created hubs share the Virtual WAN’s resource group – cross-RG hubs need PowerShell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Route </a:t>
            </a:r>
            <a:r>
              <a:rPr dirty="0"/>
              <a:t>Encryption &amp; PaaS </a:t>
            </a:r>
            <a:r>
              <a:rPr lang="en-US" dirty="0"/>
              <a:t>Resource </a:t>
            </a:r>
            <a:r>
              <a:rPr dirty="0"/>
              <a:t>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8952" y="2249486"/>
            <a:ext cx="5260847" cy="3794698"/>
          </a:xfrm>
        </p:spPr>
        <p:txBody>
          <a:bodyPr wrap="square">
            <a:normAutofit fontScale="82500" lnSpcReduction="20000"/>
          </a:bodyPr>
          <a:lstStyle/>
          <a:p>
            <a:r>
              <a:rPr i="0" dirty="0"/>
              <a:t>ExpressRoute encryption – MACsec vs. IPsec</a:t>
            </a:r>
          </a:p>
          <a:p>
            <a:pPr lvl="1"/>
            <a:r>
              <a:rPr i="0" dirty="0"/>
              <a:t>MACsec: </a:t>
            </a:r>
            <a:endParaRPr lang="en-US" i="0" dirty="0"/>
          </a:p>
          <a:p>
            <a:pPr lvl="2"/>
            <a:r>
              <a:rPr i="0" dirty="0"/>
              <a:t>Layer 2, encrypts everything including BGP</a:t>
            </a:r>
            <a:r>
              <a:rPr lang="en-US" i="0" dirty="0"/>
              <a:t> and data traffic</a:t>
            </a:r>
          </a:p>
          <a:p>
            <a:pPr lvl="2"/>
            <a:r>
              <a:rPr i="0" dirty="0"/>
              <a:t>requires ExpressRoute Direct</a:t>
            </a:r>
            <a:endParaRPr lang="en-US" i="0" dirty="0"/>
          </a:p>
          <a:p>
            <a:pPr lvl="2"/>
            <a:r>
              <a:rPr i="0" dirty="0"/>
              <a:t>BYO key</a:t>
            </a:r>
            <a:r>
              <a:rPr lang="en-US" i="0" dirty="0"/>
              <a:t> for encryption and store it in Azure</a:t>
            </a:r>
            <a:r>
              <a:rPr i="0" dirty="0"/>
              <a:t> Key Vault</a:t>
            </a:r>
            <a:endParaRPr lang="en-US" i="0" dirty="0"/>
          </a:p>
          <a:p>
            <a:pPr lvl="2"/>
            <a:r>
              <a:rPr lang="en-US" dirty="0"/>
              <a:t>A MACsec key update needed both sides – a mismatch breaks traffic</a:t>
            </a:r>
            <a:endParaRPr i="0" dirty="0"/>
          </a:p>
          <a:p>
            <a:pPr lvl="1"/>
            <a:r>
              <a:rPr i="0" dirty="0"/>
              <a:t>IPsec: </a:t>
            </a:r>
            <a:endParaRPr lang="en-US" i="0" dirty="0"/>
          </a:p>
          <a:p>
            <a:pPr lvl="2"/>
            <a:r>
              <a:rPr i="0" dirty="0"/>
              <a:t>end-to-end</a:t>
            </a:r>
            <a:r>
              <a:rPr lang="en-US" dirty="0"/>
              <a:t> encryption with IPSec</a:t>
            </a:r>
            <a:r>
              <a:rPr i="0" dirty="0"/>
              <a:t> </a:t>
            </a:r>
            <a:endParaRPr lang="en-US" dirty="0"/>
          </a:p>
          <a:p>
            <a:pPr lvl="2"/>
            <a:r>
              <a:rPr lang="en-US" i="0" dirty="0"/>
              <a:t>Encrypts data at the IP level (layer 3), </a:t>
            </a:r>
            <a:r>
              <a:rPr i="0" dirty="0"/>
              <a:t>no ExpressRoute Direct requirement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3" y="2249486"/>
            <a:ext cx="5660133" cy="3794698"/>
          </a:xfrm>
        </p:spPr>
        <p:txBody>
          <a:bodyPr wrap="square">
            <a:normAutofit fontScale="82500" lnSpcReduction="20000"/>
          </a:bodyPr>
          <a:lstStyle/>
          <a:p>
            <a:r>
              <a:rPr lang="en-US" i="0" dirty="0"/>
              <a:t>PaaS </a:t>
            </a:r>
            <a:r>
              <a:rPr lang="en-US" dirty="0"/>
              <a:t>R</a:t>
            </a:r>
            <a:r>
              <a:rPr lang="en-US" i="0" dirty="0"/>
              <a:t>esource Firewalls </a:t>
            </a:r>
            <a:r>
              <a:rPr i="0" dirty="0"/>
              <a:t>– </a:t>
            </a:r>
            <a:r>
              <a:rPr lang="en-US" i="0" dirty="0"/>
              <a:t>Azure Storage</a:t>
            </a:r>
            <a:endParaRPr i="0" dirty="0"/>
          </a:p>
          <a:p>
            <a:pPr lvl="1"/>
            <a:r>
              <a:rPr lang="en-US" i="0" dirty="0"/>
              <a:t>Default configuration allows all networks</a:t>
            </a:r>
            <a:endParaRPr i="0" dirty="0"/>
          </a:p>
          <a:p>
            <a:pPr lvl="1"/>
            <a:r>
              <a:rPr i="0" dirty="0"/>
              <a:t>Public Network Access: All / Selected networks </a:t>
            </a:r>
            <a:r>
              <a:rPr lang="en-US" i="0" dirty="0"/>
              <a:t>&amp;</a:t>
            </a:r>
            <a:r>
              <a:rPr i="0" dirty="0"/>
              <a:t> IPs / Disabled</a:t>
            </a:r>
          </a:p>
          <a:p>
            <a:pPr lvl="1"/>
            <a:r>
              <a:rPr i="0" dirty="0"/>
              <a:t>Enforced </a:t>
            </a:r>
            <a:r>
              <a:rPr lang="en-US" i="0" dirty="0"/>
              <a:t>on all network</a:t>
            </a:r>
            <a:r>
              <a:rPr i="0" dirty="0"/>
              <a:t> protocol – REST, SMB</a:t>
            </a:r>
          </a:p>
          <a:p>
            <a:pPr lvl="1"/>
            <a:r>
              <a:rPr i="1" dirty="0"/>
              <a:t>Update-</a:t>
            </a:r>
            <a:r>
              <a:rPr i="1" dirty="0" err="1"/>
              <a:t>AzStorageAccountNetworkRuleSet</a:t>
            </a:r>
            <a:r>
              <a:rPr i="1" dirty="0"/>
              <a:t> </a:t>
            </a:r>
            <a:r>
              <a:rPr lang="en-US" i="1" dirty="0" err="1"/>
              <a:t>ResourceGroupName</a:t>
            </a:r>
            <a:r>
              <a:rPr lang="en-US" i="1" dirty="0"/>
              <a:t> “</a:t>
            </a:r>
            <a:r>
              <a:rPr lang="en-US" i="1" dirty="0" err="1"/>
              <a:t>MyRG</a:t>
            </a:r>
            <a:r>
              <a:rPr lang="en-US" i="1" dirty="0"/>
              <a:t>” –Name “</a:t>
            </a:r>
            <a:r>
              <a:rPr lang="en-US" i="1" dirty="0" err="1"/>
              <a:t>mystorage</a:t>
            </a:r>
            <a:r>
              <a:rPr lang="en-US" i="1" dirty="0"/>
              <a:t>” </a:t>
            </a:r>
            <a:r>
              <a:rPr i="1" dirty="0"/>
              <a:t>-</a:t>
            </a:r>
            <a:r>
              <a:rPr i="1" dirty="0" err="1"/>
              <a:t>DefaultAction</a:t>
            </a:r>
            <a:r>
              <a:rPr i="1" dirty="0"/>
              <a:t> Deny</a:t>
            </a:r>
            <a:endParaRPr lang="en-US" i="1" dirty="0"/>
          </a:p>
          <a:p>
            <a:pPr lvl="2"/>
            <a:r>
              <a:rPr lang="en-US" i="1" dirty="0"/>
              <a:t>Denies network access to a storage account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Watcher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9500"/>
          </a:bodyPr>
          <a:lstStyle/>
          <a:p>
            <a:r>
              <a:rPr i="0" dirty="0"/>
              <a:t>Built for IaaS – not PaaS, not web analytics</a:t>
            </a:r>
          </a:p>
          <a:p>
            <a:r>
              <a:rPr i="0" dirty="0"/>
              <a:t>The tools that matter most day to day</a:t>
            </a:r>
          </a:p>
          <a:p>
            <a:pPr lvl="1"/>
            <a:r>
              <a:rPr i="0" dirty="0"/>
              <a:t>IP Flow Verify – </a:t>
            </a:r>
            <a:r>
              <a:rPr lang="en-US" dirty="0"/>
              <a:t>is the packet permitted or blocked</a:t>
            </a:r>
            <a:r>
              <a:rPr i="0" dirty="0"/>
              <a:t>?</a:t>
            </a:r>
          </a:p>
          <a:p>
            <a:pPr lvl="1"/>
            <a:r>
              <a:rPr i="0" dirty="0"/>
              <a:t>Next Hop – </a:t>
            </a:r>
            <a:r>
              <a:rPr lang="en-US" dirty="0"/>
              <a:t>is the route properly routed to its intended destination or is being blocked?</a:t>
            </a:r>
            <a:endParaRPr i="0" dirty="0"/>
          </a:p>
          <a:p>
            <a:pPr lvl="1"/>
            <a:r>
              <a:rPr i="0" dirty="0"/>
              <a:t>Effective Security Rules – what’s the combined rule set on this NIC?</a:t>
            </a:r>
          </a:p>
          <a:p>
            <a:pPr lvl="1"/>
            <a:r>
              <a:rPr i="0" dirty="0"/>
              <a:t>NSG Diagnostics / Connection Troubleshoot – root-cause a broken flow</a:t>
            </a:r>
          </a:p>
          <a:p>
            <a:pPr lvl="1"/>
            <a:r>
              <a:rPr i="0" dirty="0"/>
              <a:t>Flow Logs / Traffic Analytics – </a:t>
            </a:r>
            <a:r>
              <a:rPr lang="en-US" i="0" dirty="0"/>
              <a:t>shows network activity within your cloud environment</a:t>
            </a:r>
            <a:endParaRPr i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demo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0000" lnSpcReduction="10000"/>
          </a:bodyPr>
          <a:lstStyle/>
          <a:p>
            <a:r>
              <a:rPr i="0" dirty="0"/>
              <a:t>Phase 1 – NSGs/ASGs</a:t>
            </a:r>
          </a:p>
          <a:p>
            <a:pPr lvl="1"/>
            <a:r>
              <a:rPr lang="en-US" dirty="0"/>
              <a:t>Create an ASG, associate it, retarget the rules</a:t>
            </a:r>
          </a:p>
          <a:p>
            <a:r>
              <a:rPr lang="en-US" i="0" dirty="0"/>
              <a:t>Phase 2 – UDRs</a:t>
            </a:r>
          </a:p>
          <a:p>
            <a:pPr lvl="1"/>
            <a:r>
              <a:rPr lang="en-US" dirty="0"/>
              <a:t>Create a Route Table, apply a 0.0.0.0/0 route, apply a 10.2.0.4/23 route, then associate it</a:t>
            </a:r>
          </a:p>
          <a:p>
            <a:r>
              <a:rPr i="0" dirty="0"/>
              <a:t>Phase 3 – VPN</a:t>
            </a:r>
          </a:p>
          <a:p>
            <a:pPr lvl="1"/>
            <a:r>
              <a:rPr lang="en-US" dirty="0"/>
              <a:t>Already configured — quick look at the S2S and P2S setup</a:t>
            </a:r>
          </a:p>
          <a:p>
            <a:r>
              <a:rPr i="0" dirty="0"/>
              <a:t>Phase 4 – Network Watcher</a:t>
            </a:r>
          </a:p>
          <a:p>
            <a:pPr lvl="1"/>
            <a:r>
              <a:rPr lang="en-US" dirty="0"/>
              <a:t>Verification: Effective Security Rules, NSG Diagnostics, Next Hop, and IP Flow Verify</a:t>
            </a:r>
            <a:endParaRPr i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Questions???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lang="en-US" dirty="0"/>
              <a:t>What’s next?</a:t>
            </a:r>
          </a:p>
          <a:p>
            <a:pPr lvl="1"/>
            <a:r>
              <a:rPr lang="en-US" i="0" dirty="0"/>
              <a:t>CCNP...</a:t>
            </a:r>
          </a:p>
          <a:p>
            <a:pPr lvl="2"/>
            <a:r>
              <a:rPr lang="en-US" i="0" dirty="0"/>
              <a:t>Failed the Enterprise Core (ENCOR) once – 2</a:t>
            </a:r>
            <a:r>
              <a:rPr lang="en-US" i="0" baseline="30000" dirty="0"/>
              <a:t>nd</a:t>
            </a:r>
            <a:r>
              <a:rPr lang="en-US" i="0" dirty="0"/>
              <a:t> attempt pending</a:t>
            </a:r>
          </a:p>
          <a:p>
            <a:pPr lvl="2"/>
            <a:r>
              <a:rPr lang="en-US" dirty="0"/>
              <a:t>Enterprise Advanced Routing and Services (ENARSI)</a:t>
            </a:r>
            <a:endParaRPr lang="en-US" i="0" dirty="0"/>
          </a:p>
          <a:p>
            <a:pPr lvl="1"/>
            <a:r>
              <a:rPr lang="en-US" dirty="0"/>
              <a:t>Cert Hiatus – maybe a year, I don’t know yet.</a:t>
            </a:r>
            <a:endParaRPr i="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F0F0F0"/>
      </a:dk1>
      <a:lt1>
        <a:sysClr val="window" lastClr="000000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CB4A8370961D44BBAAFB771EE08746" ma:contentTypeVersion="15" ma:contentTypeDescription="Create a new document." ma:contentTypeScope="" ma:versionID="be75590a818e8641d2ed75a4a25d5429">
  <xsd:schema xmlns:xsd="http://www.w3.org/2001/XMLSchema" xmlns:xs="http://www.w3.org/2001/XMLSchema" xmlns:p="http://schemas.microsoft.com/office/2006/metadata/properties" xmlns:ns3="ace1bf1d-4096-477c-ab4f-5178d87cec9a" xmlns:ns4="8118a104-d0e6-4d2d-9876-ff9c0ad6a3f4" targetNamespace="http://schemas.microsoft.com/office/2006/metadata/properties" ma:root="true" ma:fieldsID="e0215f633474fa204050b413b547c79c" ns3:_="" ns4:_="">
    <xsd:import namespace="ace1bf1d-4096-477c-ab4f-5178d87cec9a"/>
    <xsd:import namespace="8118a104-d0e6-4d2d-9876-ff9c0ad6a3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e1bf1d-4096-477c-ab4f-5178d87ce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8a104-d0e6-4d2d-9876-ff9c0ad6a3f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e1bf1d-4096-477c-ab4f-5178d87cec9a" xsi:nil="true"/>
  </documentManagement>
</p:properties>
</file>

<file path=customXml/itemProps1.xml><?xml version="1.0" encoding="utf-8"?>
<ds:datastoreItem xmlns:ds="http://schemas.openxmlformats.org/officeDocument/2006/customXml" ds:itemID="{8124E91B-64BC-43F9-AB3D-9B7BA646FE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D43EB7-F7E5-4105-9721-37787DEA43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e1bf1d-4096-477c-ab4f-5178d87cec9a"/>
    <ds:schemaRef ds:uri="8118a104-d0e6-4d2d-9876-ff9c0ad6a3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EA2D94-B042-45FB-9490-4FE47F0BF32C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ace1bf1d-4096-477c-ab4f-5178d87cec9a"/>
    <ds:schemaRef ds:uri="http://purl.org/dc/terms/"/>
    <ds:schemaRef ds:uri="8118a104-d0e6-4d2d-9876-ff9c0ad6a3f4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2821</TotalTime>
  <Words>2209</Words>
  <Application>Microsoft Office PowerPoint</Application>
  <PresentationFormat>Widescreen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Tw Cen MT</vt:lpstr>
      <vt:lpstr>Circuit</vt:lpstr>
      <vt:lpstr>Virtual Network security</vt:lpstr>
      <vt:lpstr>The Problem – Peering Isn’t Segmentation</vt:lpstr>
      <vt:lpstr>NSGs – Where They Apply &amp; Evaluation Order</vt:lpstr>
      <vt:lpstr>NSG Rules – Parameters &amp; Defaults</vt:lpstr>
      <vt:lpstr>Creating &amp; Associating an NSG</vt:lpstr>
      <vt:lpstr>Application Security Groups</vt:lpstr>
      <vt:lpstr>User-Defined Routes</vt:lpstr>
      <vt:lpstr>VNet Peering &amp; Hub-Spoke</vt:lpstr>
      <vt:lpstr>VPN Gateway &amp; Authentication</vt:lpstr>
      <vt:lpstr>Virtual WAN</vt:lpstr>
      <vt:lpstr>Express Route Encryption &amp; PaaS Resource Firewalls</vt:lpstr>
      <vt:lpstr>Network Watcher</vt:lpstr>
      <vt:lpstr>Lab demo</vt:lpstr>
      <vt:lpstr>Questions???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Poyzer</dc:creator>
  <cp:lastModifiedBy>Joe Poyzer</cp:lastModifiedBy>
  <cp:revision>29</cp:revision>
  <dcterms:created xsi:type="dcterms:W3CDTF">2026-05-17T02:16:55Z</dcterms:created>
  <dcterms:modified xsi:type="dcterms:W3CDTF">2026-10-09T03:53:02Z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0x01010016CB4A8370961D44BBAAFB771EE08746</vt:lpwstr>
  </property>
</Properties>
</file>