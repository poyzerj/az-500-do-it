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20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9"/>
    <p:sldId id="267" r:id="rId8"/>
    <p:sldId id="268" r:id="rId7"/>
    <p:sldId id="269" r:id="rId6"/>
    <p:sldId id="270" r:id="rId5"/>
    <p:sldId id="27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3257A-E728-4A58-AC98-B3AD912498B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FD5CE-09DF-4FC2-9F4D-AC7AFBE1D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3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1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6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9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7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1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7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0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2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4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34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8691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56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81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96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38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458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EDF15-70E3-4576-B08C-0CB2814DD56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714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Teach-It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AZ-500 – Secure Networking (Skill 2.1: Virtual Network Security)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This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0000" lnSpcReduction="18000"/>
          </a:bodyPr>
          <a:lstStyle/>
          <a:p>
            <a:pPr/>
            <a:r>
              <a:rPr i="0"/>
              <a:t>Secure Networking is 20–25% of the AZ-500 exam</a:t>
            </a:r>
          </a:p>
          <a:p>
            <a:pPr lvl="1"/>
            <a:r>
              <a:rPr i="0"/>
              <a:t>The single largest domain on the exam</a:t>
            </a:r>
          </a:p>
          <a:p>
            <a:pPr/>
            <a:r>
              <a:rPr i="0"/>
              <a:t>Split into 3 sub-skills</a:t>
            </a:r>
          </a:p>
          <a:p>
            <a:pPr lvl="1"/>
            <a:r>
              <a:rPr i="0"/>
              <a:t>Plan and implement security for virtual networks – this one</a:t>
            </a:r>
          </a:p>
          <a:p>
            <a:pPr lvl="1"/>
            <a:r>
              <a:rPr i="0"/>
              <a:t>Plan and implement security for private access to Azure resources</a:t>
            </a:r>
          </a:p>
          <a:p>
            <a:pPr lvl="1"/>
            <a:r>
              <a:rPr i="0"/>
              <a:t>Plan and implement security for public access to Azure resources</a:t>
            </a:r>
          </a:p>
          <a:p>
            <a:pPr/>
            <a:r>
              <a:rPr i="0"/>
              <a:t>What this covers</a:t>
            </a:r>
          </a:p>
          <a:p>
            <a:pPr lvl="1"/>
            <a:r>
              <a:rPr i="0"/>
              <a:t>NSGs &amp; ASGs, UDRs, VNet Peering, VPN Gateway, Virtual WAN, ExpressRoute encryption, PaaS firewalls, Network Watcher</a:t>
            </a:r>
          </a:p>
          <a:p>
            <a:pPr/>
            <a:r>
              <a:rPr i="0"/>
              <a:t>Shared responsibility reminder</a:t>
            </a:r>
          </a:p>
          <a:p>
            <a:pPr lvl="1"/>
            <a:r>
              <a:rPr i="0"/>
              <a:t>IaaS – you own most of the network config</a:t>
            </a:r>
          </a:p>
          <a:p>
            <a:pPr lvl="1"/>
            <a:r>
              <a:rPr i="0"/>
              <a:t>PaaS – Azure owns more of it, but not all of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 Worked Through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0000" lnSpcReduction="6000"/>
          </a:bodyPr>
          <a:lstStyle/>
          <a:p>
            <a:pPr/>
            <a:r>
              <a:rPr i="0"/>
              <a:t>Book: Chapter 2, “Secure Azure Networks”</a:t>
            </a:r>
          </a:p>
          <a:p>
            <a:pPr/>
            <a:r>
              <a:rPr i="0"/>
              <a:t>Applied it to a real environment, not a throwaway lab</a:t>
            </a:r>
          </a:p>
          <a:p>
            <a:pPr lvl="1"/>
            <a:r>
              <a:rPr i="0"/>
              <a:t>My own hub-spoke build, originally from AZ-700 – not something spun up just for this</a:t>
            </a:r>
          </a:p>
          <a:p>
            <a:pPr/>
            <a:r>
              <a:rPr i="0"/>
              <a:t>Real environment = real constraints</a:t>
            </a:r>
          </a:p>
          <a:p>
            <a:pPr lvl="1"/>
            <a:r>
              <a:rPr i="0"/>
              <a:t>Existing NSG rules, existing IP ranges, existing DNS setup</a:t>
            </a:r>
          </a:p>
          <a:p>
            <a:pPr lvl="1"/>
            <a:r>
              <a:rPr i="0"/>
              <a:t>Constraints a clean lab never surfaces</a:t>
            </a:r>
          </a:p>
          <a:p>
            <a:pPr/>
            <a:r>
              <a:rPr i="0"/>
              <a:t>Pro tip: reviewing your own old configs against this domain’s controls is itself a Secure Networking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– Peering Isn’t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8000" lnSpcReduction="13200"/>
          </a:bodyPr>
          <a:lstStyle/>
          <a:p>
            <a:pPr/>
            <a:r>
              <a:rPr i="0"/>
              <a:t>Scenario: you peer two VNets together</a:t>
            </a:r>
          </a:p>
          <a:p>
            <a:pPr/>
            <a:r>
              <a:rPr i="0"/>
              <a:t>What people assume: peering = isolated, segmented networks</a:t>
            </a:r>
          </a:p>
          <a:p>
            <a:pPr/>
            <a:r>
              <a:rPr i="0"/>
              <a:t>What actually happens</a:t>
            </a:r>
          </a:p>
          <a:p>
            <a:pPr lvl="1"/>
            <a:r>
              <a:rPr i="0"/>
              <a:t>AllowVNetInBound (priority 65000) allows everything inside the VNet address space by default</a:t>
            </a:r>
          </a:p>
          <a:p>
            <a:pPr lvl="1"/>
            <a:r>
              <a:rPr i="0"/>
              <a:t>It’s a platform default – you can’t delete it, only override it with a lower-priority rule</a:t>
            </a:r>
          </a:p>
          <a:p>
            <a:pPr lvl="1"/>
            <a:r>
              <a:rPr i="0"/>
              <a:t>Nothing warns you this is open</a:t>
            </a:r>
          </a:p>
          <a:p>
            <a:pPr/>
            <a:r>
              <a:rPr i="0"/>
              <a:t>Same story on the routing side</a:t>
            </a:r>
          </a:p>
          <a:p>
            <a:pPr lvl="1"/>
            <a:r>
              <a:rPr i="0"/>
              <a:t>Peering adds a route automatically – no firewall sits in that path unless you put one there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NSGs – Where They Apply &amp; Evaluation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i="0"/>
              <a:t>Two places to apply an NSG</a:t>
            </a:r>
          </a:p>
          <a:p>
            <a:pPr lvl="1"/>
            <a:r>
              <a:rPr i="0"/>
              <a:t>On a subnet – one rule set covers everything in it</a:t>
            </a:r>
          </a:p>
          <a:p>
            <a:pPr lvl="1"/>
            <a:r>
              <a:rPr i="0"/>
              <a:t>On a network interface (NIC) – per-VM control</a:t>
            </a:r>
          </a:p>
          <a:p>
            <a:pPr lvl="1"/>
            <a:r>
              <a:rPr i="0"/>
              <a:t>Both can be used together on the same path</a:t>
            </a:r>
          </a:p>
          <a:p>
            <a:pPr/>
            <a:r>
              <a:rPr i="0"/>
              <a:t>Evaluation order matters</a:t>
            </a:r>
          </a:p>
          <a:p>
            <a:pPr lvl="1"/>
            <a:r>
              <a:rPr i="0"/>
              <a:t>Inbound: subnet rules evaluated first, then NIC rules</a:t>
            </a:r>
          </a:p>
          <a:p>
            <a:pPr lvl="1"/>
            <a:r>
              <a:rPr i="0"/>
              <a:t>Outbound: NIC rules evaluated first, then subnet rules</a:t>
            </a:r>
          </a:p>
          <a:p>
            <a:pPr lvl="1"/>
            <a:r>
              <a:rPr i="0"/>
              <a:t>Traffic stops evaluating as soon as one rule matches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NSG Rules – Parameters &amp; Defaults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 fontScale="90000" lnSpcReduction="6000"/>
          </a:bodyPr>
          <a:lstStyle/>
          <a:p>
            <a:pPr/>
            <a:r>
              <a:rPr i="0"/>
              <a:t>Rule parameters (the 5-tuple + metadata)</a:t>
            </a:r>
          </a:p>
          <a:p>
            <a:pPr lvl="1"/>
            <a:r>
              <a:rPr i="0"/>
              <a:t>Name</a:t>
            </a:r>
          </a:p>
          <a:p>
            <a:pPr lvl="1"/>
            <a:r>
              <a:rPr i="0"/>
              <a:t>Priority – 100–4096, lower number wins</a:t>
            </a:r>
          </a:p>
          <a:p>
            <a:pPr lvl="1"/>
            <a:r>
              <a:rPr i="0"/>
              <a:t>Source / Destination – IP, CIDR, Service Tag, or ASG</a:t>
            </a:r>
          </a:p>
          <a:p>
            <a:pPr lvl="1"/>
            <a:r>
              <a:rPr i="0"/>
              <a:t>Protocol – TCP, UDP, ICMP, or Any</a:t>
            </a:r>
          </a:p>
          <a:p>
            <a:pPr lvl="1"/>
            <a:r>
              <a:rPr i="0"/>
              <a:t>Port range</a:t>
            </a:r>
          </a:p>
          <a:p>
            <a:pPr lvl="1"/>
            <a:r>
              <a:rPr i="0"/>
              <a:t>Action – Allow or Deny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 fontScale="80000" lnSpcReduction="12000"/>
          </a:bodyPr>
          <a:lstStyle/>
          <a:p>
            <a:pPr/>
            <a:r>
              <a:rPr i="0"/>
              <a:t>Default rules – can’t delete, only override</a:t>
            </a:r>
          </a:p>
          <a:p>
            <a:pPr lvl="1"/>
            <a:r>
              <a:rPr i="0"/>
              <a:t>AllowVNetInBound (65000)</a:t>
            </a:r>
          </a:p>
          <a:p>
            <a:pPr lvl="1"/>
            <a:r>
              <a:rPr i="0"/>
              <a:t>AllowAzureLoadBalancerInBound (65001)</a:t>
            </a:r>
          </a:p>
          <a:p>
            <a:pPr lvl="1"/>
            <a:r>
              <a:rPr i="0"/>
              <a:t>DenyAllInbound (65500)</a:t>
            </a:r>
          </a:p>
          <a:p>
            <a:pPr lvl="1"/>
            <a:r>
              <a:rPr i="0"/>
              <a:t>Same pattern on the outbound side</a:t>
            </a:r>
          </a:p>
          <a:p>
            <a:pPr/>
            <a:r>
              <a:rPr i="0"/>
              <a:t>Removing a rule doesn’t kill an existing connection instantly</a:t>
            </a:r>
          </a:p>
          <a:p>
            <a:pPr lvl="1"/>
            <a:r>
              <a:rPr i="0"/>
              <a:t>The interruption only happens once there’s no traffic in either direction for a few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&amp; Associating an NSG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2000" lnSpcReduction="10800"/>
          </a:bodyPr>
          <a:lstStyle/>
          <a:p>
            <a:pPr/>
            <a:r>
              <a:rPr i="0"/>
              <a:t>Portal: Network Security Groups → Add → set Subscription / Resource Group / Name / Region → Review + Create</a:t>
            </a:r>
          </a:p>
          <a:p>
            <a:pPr/>
            <a:r>
              <a:rPr i="0"/>
              <a:t>PowerShell:</a:t>
            </a:r>
          </a:p>
          <a:p>
            <a:pPr lvl="1"/>
            <a:r>
              <a:rPr i="1"/>
              <a:t>New-AzNetworkSecurityGroup -Name “AZ500NSG” -ResourceGroupName “AZ500RG” -Location “westus”</a:t>
            </a:r>
          </a:p>
          <a:p>
            <a:pPr/>
            <a:r>
              <a:rPr i="0"/>
              <a:t>Adding a rule (portal): NSG → Inbound Security Rules → Add</a:t>
            </a:r>
          </a:p>
          <a:p>
            <a:pPr/>
            <a:r>
              <a:rPr i="0"/>
              <a:t>PowerShell equivalent:</a:t>
            </a:r>
          </a:p>
          <a:p>
            <a:pPr lvl="1"/>
            <a:r>
              <a:rPr i="1"/>
              <a:t>New-AzNetworkSecurityRuleConfig -Name ftp-rule -Access Allow -Protocol Tcp -Direction Inbound -Priority 100 …</a:t>
            </a:r>
          </a:p>
          <a:p>
            <a:pPr/>
            <a:r>
              <a:rPr i="0"/>
              <a:t>An NSG does nothing until it’s associated to a subnet or a NIC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Security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0000" lnSpcReduction="12000"/>
          </a:bodyPr>
          <a:lstStyle/>
          <a:p>
            <a:pPr/>
            <a:r>
              <a:rPr i="0"/>
              <a:t>Group VMs by application role, not by IP</a:t>
            </a:r>
          </a:p>
          <a:p>
            <a:pPr/>
            <a:r>
              <a:rPr i="0"/>
              <a:t>One ASG as source, one ASG as destination – per rule</a:t>
            </a:r>
          </a:p>
          <a:p>
            <a:pPr lvl="1"/>
            <a:r>
              <a:rPr i="0"/>
              <a:t>Not multiple ASGs on either side of the same rule</a:t>
            </a:r>
          </a:p>
          <a:p>
            <a:pPr/>
            <a:r>
              <a:rPr i="0"/>
              <a:t>A VM with multiple workloads can belong to multiple ASGs</a:t>
            </a:r>
          </a:p>
          <a:p>
            <a:pPr lvl="1"/>
            <a:r>
              <a:rPr i="0"/>
              <a:t>Each workload gets its own access rules</a:t>
            </a:r>
          </a:p>
          <a:p>
            <a:pPr/>
            <a:r>
              <a:rPr i="0"/>
              <a:t>PowerShell:</a:t>
            </a:r>
          </a:p>
          <a:p>
            <a:pPr lvl="1"/>
            <a:r>
              <a:rPr i="1"/>
              <a:t>New-AzApplicationSecurityGroup -ResourceGroupName “MyRG” -Name “MyASG” -Location “West US”</a:t>
            </a:r>
          </a:p>
          <a:p>
            <a:pPr/>
            <a:r>
              <a:rPr i="0"/>
              <a:t>Associate: VM → Networking → Network Settings → Configure (Application Security Group) → Add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User-Defined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6000" lnSpcReduction="8400"/>
          </a:bodyPr>
          <a:lstStyle/>
          <a:p>
            <a:pPr/>
            <a:r>
              <a:rPr i="0"/>
              <a:t>Azure creates default routes automatically</a:t>
            </a:r>
          </a:p>
          <a:p>
            <a:pPr lvl="1"/>
            <a:r>
              <a:rPr i="0"/>
              <a:t>One per VNet address range</a:t>
            </a:r>
          </a:p>
          <a:p>
            <a:pPr lvl="1"/>
            <a:r>
              <a:rPr i="0"/>
              <a:t>0.0.0.0/0 → Internet, unless the destination is an Azure service</a:t>
            </a:r>
          </a:p>
          <a:p>
            <a:pPr lvl="1"/>
            <a:r>
              <a:rPr i="0"/>
              <a:t>Peering, gateways, and service endpoints all add their own routes too</a:t>
            </a:r>
          </a:p>
          <a:p>
            <a:pPr/>
            <a:r>
              <a:rPr i="0"/>
              <a:t>Only create a custom route to override default behavior</a:t>
            </a:r>
          </a:p>
          <a:p>
            <a:pPr lvl="1"/>
            <a:r>
              <a:rPr i="0"/>
              <a:t>Classic case: point 0.0.0.0/0 at a firewall or NVA so it can inspect traffic first</a:t>
            </a:r>
          </a:p>
          <a:p>
            <a:pPr lvl="1"/>
            <a:r>
              <a:rPr i="0"/>
              <a:t>Next Hop Type = None – a deliberate drop</a:t>
            </a:r>
          </a:p>
          <a:p>
            <a:pPr/>
            <a:r>
              <a:rPr i="0"/>
              <a:t>A subnet only gets one route table – user-defined routes win over default routes on conflict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VNet Peering &amp; Hub-Spoke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6300000" cy="3541714"/>
          </a:xfrm>
        </p:spPr>
        <p:txBody>
          <a:bodyPr wrap="square">
            <a:normAutofit fontScale="80000" lnSpcReduction="12000"/>
          </a:bodyPr>
          <a:lstStyle/>
          <a:p>
            <a:pPr/>
            <a:r>
              <a:rPr i="0"/>
              <a:t>Connects VNets – same region, or cross-region (Global VNet Peering)</a:t>
            </a:r>
          </a:p>
          <a:p>
            <a:pPr/>
            <a:r>
              <a:rPr i="0"/>
              <a:t>Peered traffic never touches a gateway or the public internet</a:t>
            </a:r>
          </a:p>
          <a:p>
            <a:pPr lvl="1"/>
            <a:r>
              <a:rPr i="0"/>
              <a:t>It’s routed directly over the Microsoft backbone</a:t>
            </a:r>
          </a:p>
          <a:p>
            <a:pPr/>
            <a:r>
              <a:rPr i="0"/>
              <a:t>Hub-spoke pattern</a:t>
            </a:r>
          </a:p>
          <a:p>
            <a:pPr lvl="1"/>
            <a:r>
              <a:rPr i="0"/>
              <a:t>Hub = central connectivity point to on-prem</a:t>
            </a:r>
          </a:p>
          <a:p>
            <a:pPr lvl="1"/>
            <a:r>
              <a:rPr i="0"/>
              <a:t>Spokes peer to the hub, gaining isolation from each other</a:t>
            </a:r>
          </a:p>
          <a:p>
            <a:pPr lvl="1"/>
            <a:r>
              <a:rPr i="0"/>
              <a:t>A site-to-site connection needs a dedicated GatewaySubnet in the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0000" y="19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100">
                <a:solidFill>
                  <a:srgbClr val="FFFFFF"/>
                </a:solidFill>
              </a:rPr>
              <a:t>Hub-and-Spoke – spokes isolated from each other, connected through the hub</a:t>
            </a:r>
          </a:p>
        </p:txBody>
      </p:sp>
      <p:sp>
        <p:nvSpPr>
          <p:cNvPr id="5" name="Oval 4"/>
          <p:cNvSpPr/>
          <p:nvPr/>
        </p:nvSpPr>
        <p:spPr>
          <a:xfrm>
            <a:off x="9225000" y="2475000"/>
            <a:ext cx="950000" cy="950000"/>
          </a:xfrm>
          <a:prstGeom prst="ellipse">
            <a:avLst/>
          </a:prstGeom>
          <a:solidFill>
            <a:srgbClr val="7C96A3"/>
          </a:solidFill>
          <a:ln>
            <a:solidFill>
              <a:srgbClr val="7C9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Hub</a:t>
            </a:r>
          </a:p>
          <a:p>
            <a:pPr algn="ctr"/>
            <a:r>
              <a:rPr b="1" sz="1200">
                <a:solidFill>
                  <a:srgbClr val="FFFFFF"/>
                </a:solidFill>
              </a:rPr>
              <a:t>VNet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8250000" y="3425000"/>
            <a:ext cx="1450000" cy="1075000"/>
          </a:xfrm>
          <a:prstGeom prst="line">
            <a:avLst/>
          </a:prstGeom>
          <a:ln w="28575">
            <a:solidFill>
              <a:srgbClr val="7C9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00000" y="4500000"/>
            <a:ext cx="900000" cy="900000"/>
          </a:xfrm>
          <a:prstGeom prst="ellipse">
            <a:avLst/>
          </a:prstGeom>
          <a:solidFill>
            <a:srgbClr val="7C96A3"/>
          </a:solidFill>
          <a:ln>
            <a:solidFill>
              <a:srgbClr val="7C9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000">
                <a:solidFill>
                  <a:srgbClr val="FFFFFF"/>
                </a:solidFill>
              </a:rPr>
              <a:t>Spoke</a:t>
            </a:r>
          </a:p>
          <a:p>
            <a:pPr algn="ctr"/>
            <a:r>
              <a:rPr b="1" sz="100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00000" y="3425000"/>
            <a:ext cx="0" cy="1075000"/>
          </a:xfrm>
          <a:prstGeom prst="line">
            <a:avLst/>
          </a:prstGeom>
          <a:ln w="28575">
            <a:solidFill>
              <a:srgbClr val="7C9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50000" y="4500000"/>
            <a:ext cx="900000" cy="900000"/>
          </a:xfrm>
          <a:prstGeom prst="ellipse">
            <a:avLst/>
          </a:prstGeom>
          <a:solidFill>
            <a:srgbClr val="7C96A3"/>
          </a:solidFill>
          <a:ln>
            <a:solidFill>
              <a:srgbClr val="7C9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000">
                <a:solidFill>
                  <a:srgbClr val="FFFFFF"/>
                </a:solidFill>
              </a:rPr>
              <a:t>Spoke</a:t>
            </a:r>
          </a:p>
          <a:p>
            <a:pPr algn="ctr"/>
            <a:r>
              <a:rPr b="1" sz="100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00000" y="3425000"/>
            <a:ext cx="1450000" cy="1075000"/>
          </a:xfrm>
          <a:prstGeom prst="line">
            <a:avLst/>
          </a:prstGeom>
          <a:ln w="28575">
            <a:solidFill>
              <a:srgbClr val="7C9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700000" y="4500000"/>
            <a:ext cx="900000" cy="900000"/>
          </a:xfrm>
          <a:prstGeom prst="ellipse">
            <a:avLst/>
          </a:prstGeom>
          <a:solidFill>
            <a:srgbClr val="7C96A3"/>
          </a:solidFill>
          <a:ln>
            <a:solidFill>
              <a:srgbClr val="7C9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000">
                <a:solidFill>
                  <a:srgbClr val="FFFFFF"/>
                </a:solidFill>
              </a:rPr>
              <a:t>Spoke</a:t>
            </a:r>
          </a:p>
          <a:p>
            <a:pPr algn="ctr"/>
            <a:r>
              <a:rPr b="1" sz="100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VPN Gateway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 fontScale="90000" lnSpcReduction="6000"/>
          </a:bodyPr>
          <a:lstStyle/>
          <a:p>
            <a:pPr/>
            <a:r>
              <a:rPr i="0"/>
              <a:t>Connection types</a:t>
            </a:r>
          </a:p>
          <a:p>
            <a:pPr lvl="1"/>
            <a:r>
              <a:rPr i="0"/>
              <a:t>Point-to-Site (P2S) – individual users, SSTP or IKEv2</a:t>
            </a:r>
          </a:p>
          <a:p>
            <a:pPr lvl="1"/>
            <a:r>
              <a:rPr i="0"/>
              <a:t>Site-to-Site (S2S) – on-prem to Azure, IPsec (IKEv1 or IKEv2)</a:t>
            </a:r>
          </a:p>
          <a:p>
            <a:pPr lvl="1"/>
            <a:r>
              <a:rPr i="0"/>
              <a:t>VNet-to-VNet – IPsec between two VNets</a:t>
            </a:r>
          </a:p>
          <a:p>
            <a:pPr lvl="1"/>
            <a:r>
              <a:rPr i="0"/>
              <a:t>Multi-Site – extension of S2S</a:t>
            </a:r>
          </a:p>
          <a:p>
            <a:pPr/>
            <a:r>
              <a:rPr i="0"/>
              <a:t>One gateway per VNet – VPN or ExpressRoute, never both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 fontScale="80000" lnSpcReduction="12000"/>
          </a:bodyPr>
          <a:lstStyle/>
          <a:p>
            <a:pPr/>
            <a:r>
              <a:rPr i="0"/>
              <a:t>Authentication</a:t>
            </a:r>
          </a:p>
          <a:p>
            <a:pPr lvl="1"/>
            <a:r>
              <a:rPr i="0"/>
              <a:t>Pre-shared key – auto-generated, ASCII, up to 128 characters</a:t>
            </a:r>
          </a:p>
          <a:p>
            <a:pPr lvl="1"/>
            <a:r>
              <a:rPr i="0"/>
              <a:t>P2S: Azure certificate, RADIUS (VpnGw1–3 only), or Azure AD (OpenVPN only)</a:t>
            </a:r>
          </a:p>
          <a:p>
            <a:pPr lvl="1"/>
            <a:r>
              <a:rPr i="0"/>
              <a:t>MFA can be scoped to just VPN users via Conditional Access</a:t>
            </a:r>
          </a:p>
          <a:p>
            <a:pPr/>
            <a:r>
              <a:rPr i="0"/>
              <a:t>Scenario cue</a:t>
            </a:r>
          </a:p>
          <a:p>
            <a:pPr lvl="1"/>
            <a:r>
              <a:rPr i="0"/>
              <a:t>Existing RADIUS infrastructure → RADIUS. Gateway itself must validate the cert → Azure certificate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2000" lnSpcReduction="10800"/>
          </a:bodyPr>
          <a:lstStyle/>
          <a:p>
            <a:pPr/>
            <a:r>
              <a:rPr i="0"/>
              <a:t>Hub-and-spoke at global scale</a:t>
            </a:r>
          </a:p>
          <a:p>
            <a:pPr lvl="1"/>
            <a:r>
              <a:rPr i="0"/>
              <a:t>Hubs connect in a full mesh over the Microsoft backbone</a:t>
            </a:r>
          </a:p>
          <a:p>
            <a:pPr/>
            <a:r>
              <a:rPr i="0"/>
              <a:t>Planning notes</a:t>
            </a:r>
          </a:p>
          <a:p>
            <a:pPr lvl="1"/>
            <a:r>
              <a:rPr i="0"/>
              <a:t>Partner NVAs can deploy into a hub, but aren’t required – any IKEv1/IKEv2-IPsec device works</a:t>
            </a:r>
          </a:p>
          <a:p>
            <a:pPr lvl="1"/>
            <a:r>
              <a:rPr i="0"/>
              <a:t>1,000 connections per virtual hub</a:t>
            </a:r>
          </a:p>
          <a:p>
            <a:pPr lvl="1"/>
            <a:r>
              <a:rPr i="0"/>
              <a:t>A spoke VNet on a hub can’t also have its own gateway or route server</a:t>
            </a:r>
          </a:p>
          <a:p>
            <a:pPr lvl="1"/>
            <a:r>
              <a:rPr i="0"/>
              <a:t>BGP is supported for VPN connectivity</a:t>
            </a:r>
          </a:p>
          <a:p>
            <a:pPr lvl="1"/>
            <a:r>
              <a:rPr i="0"/>
              <a:t>Default egress favors ExpressRoute over VPN – customizable</a:t>
            </a:r>
          </a:p>
          <a:p>
            <a:pPr lvl="1"/>
            <a:r>
              <a:rPr i="0"/>
              <a:t>Portal-created hubs share the Virtual WAN’s resource group – cross-RG hubs need PowerShell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&amp; PaaS 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 fontScale="90000" lnSpcReduction="6000"/>
          </a:bodyPr>
          <a:lstStyle/>
          <a:p>
            <a:pPr/>
            <a:r>
              <a:rPr i="0"/>
              <a:t>ExpressRoute encryption – MACsec vs. IPsec</a:t>
            </a:r>
          </a:p>
          <a:p>
            <a:pPr lvl="1"/>
            <a:r>
              <a:rPr i="0"/>
              <a:t>MACsec: Layer 2, encrypts everything including BGP, requires ExpressRoute Direct, BYO key in Key Vault</a:t>
            </a:r>
          </a:p>
          <a:p>
            <a:pPr lvl="1"/>
            <a:r>
              <a:rPr i="0"/>
              <a:t>IPsec: Layer 3, end-to-end, no ExpressRoute Direct requirement</a:t>
            </a:r>
          </a:p>
          <a:p>
            <a:pPr lvl="1"/>
            <a:r>
              <a:rPr i="0"/>
              <a:t>Caution: a MACsec key update needs both sides – a mismatch breaks traffic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 fontScale="94000" lnSpcReduction="3600"/>
          </a:bodyPr>
          <a:lstStyle/>
          <a:p>
            <a:pPr/>
            <a:r>
              <a:rPr i="0"/>
              <a:t>PaaS firewalls – Storage example</a:t>
            </a:r>
          </a:p>
          <a:p>
            <a:pPr lvl="1"/>
            <a:r>
              <a:rPr i="0"/>
              <a:t>Default configuration allows all networks</a:t>
            </a:r>
          </a:p>
          <a:p>
            <a:pPr lvl="1"/>
            <a:r>
              <a:rPr i="0"/>
              <a:t>Public Network Access: All / Selected networks + IPs / Disabled</a:t>
            </a:r>
          </a:p>
          <a:p>
            <a:pPr lvl="1"/>
            <a:r>
              <a:rPr i="0"/>
              <a:t>Enforced across every protocol – REST, SMB</a:t>
            </a:r>
          </a:p>
          <a:p>
            <a:pPr lvl="1"/>
            <a:r>
              <a:rPr i="1"/>
              <a:t>Update-AzStorageAccountNetworkRuleSet -DefaultAction Deny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Watcher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000" lnSpcReduction="4800"/>
          </a:bodyPr>
          <a:lstStyle/>
          <a:p>
            <a:pPr/>
            <a:r>
              <a:rPr i="0"/>
              <a:t>Built for IaaS – not PaaS, not web analytics</a:t>
            </a:r>
          </a:p>
          <a:p>
            <a:pPr/>
            <a:r>
              <a:rPr i="0"/>
              <a:t>The tools that matter most day to day</a:t>
            </a:r>
          </a:p>
          <a:p>
            <a:pPr lvl="1"/>
            <a:r>
              <a:rPr i="0"/>
              <a:t>IP Flow Verify – did this packet get through?</a:t>
            </a:r>
          </a:p>
          <a:p>
            <a:pPr lvl="1"/>
            <a:r>
              <a:rPr i="0"/>
              <a:t>Next Hop – which route is actually winning?</a:t>
            </a:r>
          </a:p>
          <a:p>
            <a:pPr lvl="1"/>
            <a:r>
              <a:rPr i="0"/>
              <a:t>Effective Security Rules – what’s the combined rule set on this NIC?</a:t>
            </a:r>
          </a:p>
          <a:p>
            <a:pPr lvl="1"/>
            <a:r>
              <a:rPr i="0"/>
              <a:t>NSG Diagnostics / Connection Troubleshoot – root-cause a broken flow</a:t>
            </a:r>
          </a:p>
          <a:p>
            <a:pPr lvl="1"/>
            <a:r>
              <a:rPr i="0"/>
              <a:t>Flow Logs / Traffic Analytics – the record of what actually happened</a:t>
            </a:r>
          </a:p>
          <a:p>
            <a:pPr/>
            <a:r>
              <a:rPr i="0"/>
              <a:t>Exam tip: the question is usually “which tool answers this,” not “does this tool exist”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Bringing It Back to My Own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0000" lnSpcReduction="6000"/>
          </a:bodyPr>
          <a:lstStyle/>
          <a:p>
            <a:pPr/>
            <a:r>
              <a:rPr i="0"/>
              <a:t>Phase 1 – NSGs/ASGs</a:t>
            </a:r>
          </a:p>
          <a:p>
            <a:pPr lvl="1"/>
            <a:r>
              <a:rPr i="0"/>
              <a:t>The AllowVNetInBound override + ASG-as-destination pattern, hands-on</a:t>
            </a:r>
          </a:p>
          <a:p>
            <a:pPr/>
            <a:r>
              <a:rPr i="0"/>
              <a:t>Phase 2 – UDRs</a:t>
            </a:r>
          </a:p>
          <a:p>
            <a:pPr lvl="1"/>
            <a:r>
              <a:rPr i="0"/>
              <a:t>The /16 route beating the automatic peering route – needed both a 0.0.0.0/0 route and an explicit per-spoke route</a:t>
            </a:r>
          </a:p>
          <a:p>
            <a:pPr/>
            <a:r>
              <a:rPr i="0"/>
              <a:t>Phase 3 – VPN</a:t>
            </a:r>
          </a:p>
          <a:p>
            <a:pPr lvl="1"/>
            <a:r>
              <a:rPr i="0"/>
              <a:t>Custom IPsec/IKE policy, Entra ID P2S auth – OpenVPN-only, same as the book</a:t>
            </a:r>
          </a:p>
          <a:p>
            <a:pPr/>
            <a:r>
              <a:rPr i="0"/>
              <a:t>Phase 4 – Network Watcher</a:t>
            </a:r>
          </a:p>
          <a:p>
            <a:pPr lvl="1"/>
            <a:r>
              <a:rPr i="0"/>
              <a:t>Used exactly three of these tools: NSG Flow Logs, IP Flow Verify, Next 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i="0"/>
              <a:t>Happy to dig into any of Phase 1–4 if you want the hands-on version of this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CB4A8370961D44BBAAFB771EE08746" ma:contentTypeVersion="15" ma:contentTypeDescription="Create a new document." ma:contentTypeScope="" ma:versionID="be75590a818e8641d2ed75a4a25d5429">
  <xsd:schema xmlns:xsd="http://www.w3.org/2001/XMLSchema" xmlns:xs="http://www.w3.org/2001/XMLSchema" xmlns:p="http://schemas.microsoft.com/office/2006/metadata/properties" xmlns:ns3="ace1bf1d-4096-477c-ab4f-5178d87cec9a" xmlns:ns4="8118a104-d0e6-4d2d-9876-ff9c0ad6a3f4" targetNamespace="http://schemas.microsoft.com/office/2006/metadata/properties" ma:root="true" ma:fieldsID="e0215f633474fa204050b413b547c79c" ns3:_="" ns4:_="">
    <xsd:import namespace="ace1bf1d-4096-477c-ab4f-5178d87cec9a"/>
    <xsd:import namespace="8118a104-d0e6-4d2d-9876-ff9c0ad6a3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e1bf1d-4096-477c-ab4f-5178d87ce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8a104-d0e6-4d2d-9876-ff9c0ad6a3f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e1bf1d-4096-477c-ab4f-5178d87cec9a" xsi:nil="true"/>
  </documentManagement>
</p:properties>
</file>

<file path=customXml/itemProps1.xml><?xml version="1.0" encoding="utf-8"?>
<ds:datastoreItem xmlns:ds="http://schemas.openxmlformats.org/officeDocument/2006/customXml" ds:itemID="{F9D43EB7-F7E5-4105-9721-37787DEA43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e1bf1d-4096-477c-ab4f-5178d87cec9a"/>
    <ds:schemaRef ds:uri="8118a104-d0e6-4d2d-9876-ff9c0ad6a3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24E91B-64BC-43F9-AB3D-9B7BA646FE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EA2D94-B042-45FB-9490-4FE47F0BF32C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ace1bf1d-4096-477c-ab4f-5178d87cec9a"/>
    <ds:schemaRef ds:uri="http://purl.org/dc/terms/"/>
    <ds:schemaRef ds:uri="8118a104-d0e6-4d2d-9876-ff9c0ad6a3f4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1806</TotalTime>
  <Words>971</Words>
  <Application>Microsoft Office PowerPoint</Application>
  <PresentationFormat>Widescreen</PresentationFormat>
  <Paragraphs>153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Tw Cen MT</vt:lpstr>
      <vt:lpstr>Circuit</vt:lpstr>
      <vt:lpstr>Teach-It</vt:lpstr>
      <vt:lpstr>About the Certification</vt:lpstr>
      <vt:lpstr>Study Materials Used</vt:lpstr>
      <vt:lpstr>The Problem Traditional Site to Site VPN Issues</vt:lpstr>
      <vt:lpstr>The Solution OSPF over IPsec VPN</vt:lpstr>
      <vt:lpstr>IPsec VPN Fundamentals</vt:lpstr>
      <vt:lpstr>OSPF Fundamentals</vt:lpstr>
      <vt:lpstr>How OSPF Works</vt:lpstr>
      <vt:lpstr>OSPF Key Concepts</vt:lpstr>
      <vt:lpstr>OSPF over IPsec</vt:lpstr>
      <vt:lpstr>Use Case: Full-Mesh Redundancy</vt:lpstr>
      <vt:lpstr>Lab Demo – 2 Firewall Topology</vt:lpstr>
      <vt:lpstr>Configuration Walkthrough</vt:lpstr>
      <vt:lpstr>Live Demo</vt:lpstr>
      <vt:lpstr>Questions???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Poyzer</dc:creator>
  <cp:lastModifiedBy>Joe Poyzer</cp:lastModifiedBy>
  <cp:revision>13</cp:revision>
  <dcterms:created xsi:type="dcterms:W3CDTF">2026-05-17T02:16:55Z</dcterms:created>
  <dcterms:modified xsi:type="dcterms:W3CDTF">2026-05-27T03:58:31Z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0x01010016CB4A8370961D44BBAAFB771EE08746</vt:lpwstr>
  </property>
</Properties>
</file>