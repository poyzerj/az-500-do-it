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image" Target="../media/image-22-1.png"/><Relationship Id="rId4" Type="http://schemas.openxmlformats.org/officeDocument/2006/relationships/image" Target="../media/image-22-1.png"/><Relationship Id="rId5" Type="http://schemas.openxmlformats.org/officeDocument/2006/relationships/image" Target="../media/image-22-1.png"/><Relationship Id="rId6" Type="http://schemas.openxmlformats.org/officeDocument/2006/relationships/image" Target="../media/image-2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2.png"/><Relationship Id="rId4" Type="http://schemas.openxmlformats.org/officeDocument/2006/relationships/image" Target="../media/image-23-2.png"/><Relationship Id="rId5" Type="http://schemas.openxmlformats.org/officeDocument/2006/relationships/image" Target="../media/image-23-2.png"/><Relationship Id="rId6" Type="http://schemas.openxmlformats.org/officeDocument/2006/relationships/image" Target="../media/image-23-2.png"/><Relationship Id="rId7" Type="http://schemas.openxmlformats.org/officeDocument/2006/relationships/image" Target="../media/image-23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40080"/>
            <a:ext cx="1371600" cy="1371600"/>
          </a:xfrm>
          <a:prstGeom prst="ellipse">
            <a:avLst/>
          </a:prstGeom>
          <a:solidFill>
            <a:srgbClr val="1222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920240"/>
            <a:ext cx="822960" cy="822960"/>
          </a:xfrm>
          <a:prstGeom prst="ellipse">
            <a:avLst/>
          </a:prstGeom>
          <a:solidFill>
            <a:srgbClr val="12224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2103120"/>
            <a:ext cx="822960" cy="822960"/>
          </a:xfrm>
          <a:prstGeom prst="ellipse">
            <a:avLst/>
          </a:prstGeom>
          <a:solidFill>
            <a:srgbClr val="12224F">
              <a:alpha val="6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 •  SKILL 2.1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Network Security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NSGs &amp; ASGs, UDRs, VNet Peering, VPN Connectivity, Virtual WAN, ExpressRoute Encryption, PaaS Firewalls &amp; Network Watcher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9" name="Image 0" descr="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9" y="4505249"/>
            <a:ext cx="362102" cy="3621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Poyzer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4727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Security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listu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Topics, One Exam Skill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7" name="Image 1" descr="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9" y="1807769"/>
            <a:ext cx="362102" cy="3621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69164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Network Security Groups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670048"/>
            <a:ext cx="502920" cy="5029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10" name="Image 2" descr="icons/objectgro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2740457"/>
            <a:ext cx="362102" cy="3621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262432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Application Security Groups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3602736"/>
            <a:ext cx="502920" cy="5029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13" name="Image 3" descr="icons/rou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9" y="3673145"/>
            <a:ext cx="362102" cy="3621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557016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User-Defined Routes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48640" y="4535424"/>
            <a:ext cx="502920" cy="5029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16" name="Image 4" descr="icons/sitem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9" y="4605833"/>
            <a:ext cx="362102" cy="3621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489704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VNet Peering &amp; Hub-Spoke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48640" y="5468112"/>
            <a:ext cx="502920" cy="5029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19" name="Image 5" descr="icons/key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9" y="5538521"/>
            <a:ext cx="362102" cy="36210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5422392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VPN Gateway &amp; Authentication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6263640" y="1737360"/>
            <a:ext cx="502920" cy="50292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22" name="Image 6" descr="icons/certificat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049" y="1807769"/>
            <a:ext cx="362102" cy="36210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995160" y="169164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Point-to-Site / Site-to-Site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6263640" y="2670048"/>
            <a:ext cx="502920" cy="50292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25" name="Image 7" descr="icons/glob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049" y="2740457"/>
            <a:ext cx="362102" cy="36210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995160" y="262432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Virtual WAN</a:t>
            </a:r>
            <a:endParaRPr lang="en-US" sz="1400" dirty="0"/>
          </a:p>
        </p:txBody>
      </p:sp>
      <p:sp>
        <p:nvSpPr>
          <p:cNvPr id="27" name="Shape 17"/>
          <p:cNvSpPr/>
          <p:nvPr/>
        </p:nvSpPr>
        <p:spPr>
          <a:xfrm>
            <a:off x="6263640" y="3602736"/>
            <a:ext cx="502920" cy="50292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28" name="Image 8" descr="icons/loc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049" y="3673145"/>
            <a:ext cx="362102" cy="362102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6995160" y="3557016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Encryption over ExpressRoute</a:t>
            </a:r>
            <a:endParaRPr lang="en-US" sz="1400" dirty="0"/>
          </a:p>
        </p:txBody>
      </p:sp>
      <p:sp>
        <p:nvSpPr>
          <p:cNvPr id="30" name="Shape 19"/>
          <p:cNvSpPr/>
          <p:nvPr/>
        </p:nvSpPr>
        <p:spPr>
          <a:xfrm>
            <a:off x="6263640" y="4535424"/>
            <a:ext cx="502920" cy="50292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31" name="Image 9" descr="icons/database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049" y="4605833"/>
            <a:ext cx="362102" cy="362102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6995160" y="4489704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PaaS Firewalls &amp; Network Watcher</a:t>
            </a:r>
            <a:endParaRPr lang="en-US" sz="1400" dirty="0"/>
          </a:p>
        </p:txBody>
      </p:sp>
      <p:sp>
        <p:nvSpPr>
          <p:cNvPr id="3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GROUPS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NSGs Apply — and the Order They're Evaluated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4630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NSG filters traffic with allow/deny rules — think of it as a modern equivalent to a VLAN in a physical network.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231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 to apply an NSG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07208"/>
            <a:ext cx="52578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subnet — one rule set secures everything in it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network interface (NIC) — per-VM control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 be used together on the same path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4231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order matters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807208"/>
            <a:ext cx="52578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traffic: subnet NSG rules evaluated first, then NIC NSG rules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traffic: NIC NSG rules evaluated first, then subnet NSG rules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stops evaluating as soon as one rule matches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39319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NSGs at both levels means traffic is checked twice — know the order, or you'll debug the wrong layer.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listu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GROUPS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Parameters (the 5-Tuple + Metadata)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identifier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100–4096. Lower number = higher priority = evaluated first. Stops at first match.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address, CIDR block, Service Tag, or Application Security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address, CIDR block, Service Tag, or Application Security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TCP, UDP, ICMP, or Any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port, or a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or Deny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16052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68680" y="4160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the whole game — the lowest-numbered matching rule wins, full stop.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GROUPS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Rules — Auto-Created, Cannot Be Deleted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257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68680"/>
                <a:gridCol w="1737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AllowVNetInBound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AllowAzureLoadBalancerInBound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DenyAllInbound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63640" y="15544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4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20240"/>
          <a:ext cx="5257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68680"/>
                <a:gridCol w="1737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AllowVnetOutBound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AllowInternetOutBound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DenyAllOutBound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39776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68680" y="39776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can't be removed — only overridden by adding a rule with a lower priority number. AllowVNetInBound is exactly why peered VNets are not segmented by default.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rule that allowed an existing connection doesn't necessarily kill it instantly — an interruption only happens once there's no traffic in either direction for a few minutes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GROUPS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and Associating an NSG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steps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84248"/>
            <a:ext cx="525780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Groups → Add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Subscription / Resource Group / Name / Region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Create → Go To Resource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Security Rules → Add — set Source, Destination, Port, Protocol, Action, Priority, Name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→ Associate — pick VNet, then subnet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60020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0B163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92240" y="2176272"/>
            <a:ext cx="480060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New-AzNetworkSecurityGroup -Name "AZ500NSG"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-ResourceGroupName "AZ500RG" -Location "westus"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32461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0B163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3410712"/>
            <a:ext cx="4800600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New-AzNetworkSecurityRuleConfig -Name ftp-rule \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-Access Allow -Protocol Tcp -Direction Inbound \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-Priority 100 -SourceAddressPrefix * \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-SourcePortRange * -DestinationAddressPrefix * \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-DestinationPortRange 21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" y="53492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NSG does nothing on its own — it has no effect until it's associated to a subnet or a NIC.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object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 GROUPS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 by Role, Not by IP Address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4630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ASG lets you group VMs by application role and use that group — not a hardcoded IP — as the source or destination in an NSG rule.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231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 you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07208"/>
            <a:ext cx="52578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micro-segmentation layer on top of NSGs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NSGs needed overall — one NSG can cover multiple subnets, with ASGs doing the fine-grained split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 Zero Trust posture — only explicitly permitted application flows are allowed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4231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trips people up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807208"/>
            <a:ext cx="52578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use one ASG as the source and one ASG as the destination per rule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specify multiple ASGs on either side of the same rule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VM with multiple workloads (e.g., web + SQL) can belong to multiple ASGs — each gets its own access rules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4348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4348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reference a role instead of an IP keep working as the environment grows — that's the whole payoff.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object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 GROUPS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and Associating an ASG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steps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84248"/>
            <a:ext cx="525780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 Groups → Create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Subscription / Resource Group / Name / Region → Review + Create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target VM → Networking → Network Settings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(Application Security Group) → Add Application Security Groups → select the ASG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60020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0B163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92240" y="2176272"/>
            <a:ext cx="480060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New-AzApplicationSecurityGroup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-ResourceGroupName "MyRG" -Name "MyASG"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-Location "West US"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3977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created, the ASG shows up as a selectable Source/Destination option the next time you build or edit an NSG rule.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ROUTES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VNets, Subnets &amp; Azure's Default System Routes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4630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VNet is scoped to a single region — cross-region connectivity needs VNet Peering. Every subnet gets a routing table automatically.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231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Azure creates for you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07208"/>
            <a:ext cx="525780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route per VNet address range → next hop = Virtual network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default: 0.0.0.0/0 → Internet, unless the destination is an Azure service — then it's routed over Azure's backbone instead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routes also exist for 10.0.0.0/8, 192.168.0.0/16, and 100.64.0.0/10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4231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Azure adds automatically when you...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807208"/>
            <a:ext cx="525780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VNet Peering → a route per peered address range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Virtual Network Gateway → route(s) with the gateway as next hop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 Service Endpoint → the service's public IPs get added to the route table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Hop Type = None means traffic is silently dropped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6634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663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table only needs the routes that override the defaults — Azure already handles VNet and Internet reachability on its own.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ROUTES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and How to Create a Custom Route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4630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create a custom route to override default behavior — classic case: point 0.0.0.0/0 at a firewall or NVA so it can inspect traffic first.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23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next-hop types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07208"/>
            <a:ext cx="4846320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appliance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 gateway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(drop)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77840" y="2423160"/>
            <a:ext cx="5943600" cy="3200400"/>
          </a:xfrm>
          <a:prstGeom prst="roundRect">
            <a:avLst>
              <a:gd name="adj" fmla="val 2286"/>
            </a:avLst>
          </a:prstGeom>
          <a:solidFill>
            <a:srgbClr val="0B163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06440" y="2587752"/>
            <a:ext cx="5486400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Create the route table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New-AzRouteTable -Name 'AZ500RouteTable'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-ResourceGroupName ContosoCST -Location EastUS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Add a route to it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Get-AzRouteTable ... | Add-AzRouteConfig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-Name 'ToAZ500Subnet' -AddressPrefix 10.0.1.0/24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-NextHopType 'MyVirtualAppliance'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-NextHopIpAddress 10.0.2.4 | Set-AzRouteTable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Associate to a subnet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Set-AzVirtualNetworkSubnetConfig ... -RouteTable $rt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subnet can be linked to only one route table. On conflict, user-defined routes win over default system routes.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 &amp; HUB-SPOKE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VNets — and the Four Peering Options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4630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Peered traffic never touches a gateway or the public Internet — it's routed directly over the Microsoft backbone.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[VNet] to access the peered VNet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on — basic bidirectional reachability (hub-spoke communication)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[VNet] to receive forwarded traffic from the peered VNet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traffic that arrived at the peered VNet from elsewhere continue into this VNet (doesn't create UDRs/NVAs itself)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gateway/route server to forward traffic to the peered VNet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relevant if this VNet has a gateway or route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use of the peered VNet's remote gateway/route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Peered VNet must have a gateway and have this enabled on its side — only one side of the peering can enable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976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68680" y="429768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options are independent toggles — enabling one doesn't imply the others. Hub-spoke designs typically need at least the first two.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 &amp; HUB-SPOKE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PowerShell, Same-Region vs. Global, and the Hub-Spoke Pattern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0B163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856232"/>
            <a:ext cx="480060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Add-AzVirtualNetworkPeering \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-Name 'NameOfTheVNetPeering' \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-VirtualNetwork SourceVNet \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-RemoteVirtualNetworkId RemoteVNet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260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scope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10128"/>
            <a:ext cx="525780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region: latency matches being inside a single VNet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peering is called Global VNet Peering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69164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Hub-spoke pattern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075688"/>
            <a:ext cx="525780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is the central connectivity point to on-premises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Spokes peer to the hub, gaining isolation/security boundaries from each other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site-to-site connection needs a dedicated GatewaySubnet in the hub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on-prem traffic flows through that gateway subnet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25196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2519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GatewaySubnet is not optional — Azure won't deploy a gateway without one, and that subnet can't be reused for anything else.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GATEWAY &amp; AUTHENTICATION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Fundamentals and Connection Types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4630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gateway is two or more managed VMs in a dedicated GatewaySubnet — one gateway per VNet, and its type is VPN or ExpressRoute, never both.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63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Point-to-Site (P2S)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remote users connecting to the VNet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SSTP or IKEv2 — no VPN device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Site-to-Site (S2S)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On-premises network to Azure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IPsec (IKEv1 or IKEv2)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VNet-to-VNet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 connectivity between two VNets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IPsec (IKEv1 or IKEv2)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on-prem sites into one VNet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of Site-to-Site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3434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68680" y="43434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create multiple connections off the same gateway — the one-per-VNet limit is on the gateway itself.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certific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GATEWAY &amp; AUTHENTICATION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Pre-Shared Keys and Point-to-Site Auth Options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Pre-shared key (PSK)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29968"/>
            <a:ext cx="525780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at tunnel creation — ASCII, up to 128 characters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both policy-based and route-based VPNs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Get-AzVirtualNetworkGatewayConnectionSharedKey — view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Set-AzVirtualNetworkGatewayConnectionSharedKey — change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64592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P2S authentication options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029968"/>
            <a:ext cx="525780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certificate — enterprise CA or self-signed root cert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— also supports IKEv2/SSTP; only on VpnGw1/2/3 SKUs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(Entra ID) — OpenVPN protocol only; Windows 10 requires the Azure VPN Client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can be scoped to just VPN users via Conditional Access, without requiring it org-wide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4160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cue: needs existing RADIUS/cert infrastructure → RADIUS. Gateway itself must validate the cert → native Azure certificate auth.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certific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POINT-TO-SITE / SITE-TO-SITE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P2S Protocol Comparison and S2S Prerequisites</a:t>
            </a:r>
            <a:endParaRPr lang="en-US" sz="2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4206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OpenVPN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TLS-based, traverses most firewalls; broad OS support (Android, iOS 11+, Windows, Linux, macOS 10.13+)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Basic SKU; not on the classic deployment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Traverses most firewalls (TCP 443)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only; capped at 128 concurrent connections regardless of SKU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IKEv2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Standards-based IPsec; supports macOS 10.11+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Basic SKU; nonstandard UDP 500/4500 — must not be blocked client-side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343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prerequisites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27448"/>
            <a:ext cx="11064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on-prem VPN device (policy-based or route-based)  •  Externally-facing public IPv4 address  •  On-prem address range Azure can route to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53492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68680" y="53492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S2S and VNet-to-VNet both run over IPsec/IKE — the real difference is only what's sitting on the other end of the tunnel.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Hub-and-Spoke Connectivity at Global Scale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4630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WAN's hubs connect in a full mesh over the Microsoft backbone — any-to-any connectivity without you wiring up every path yourself.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23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plugs into a hub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07208"/>
            <a:ext cx="1106424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offices — via VPN / SD-WAN devices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— via Azure VPN client, OpenVPN, or IKEv2 (Point-to-Site)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 — via ExpressRoute circuits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networks — as spokes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regions act as the hubs, and a standard Virtual WAN connects them in full mesh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0916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47091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secured virtual hub adds Azure Firewall directly in the hub — inspection without routing traffic back out to a spoke first.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Considerations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5257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NVAs (Barracuda, Cisco, VMware, Versa, Aruba) can deploy into a hub — but aren't required; any IKEv1/IKEv2-IPsec-compliant device works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connections per virtual hub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on-prem device can connect to multiple hubs, via the closest Microsoft network edge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NVA can be deployed inside a virtual hub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691640"/>
            <a:ext cx="5257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spoke VNet connected to a hub cannot also have its own VNet gateway, and cannot have a route server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is supported for VPN connectivity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ExpressRoute per-site is not required; multiple hubs are allowed in the same region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egress preference favors ExpressRoute over VPN (customizable)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Portal-created hubs must share the Virtual WAN's resource group — cross-RG hubs require PowerShell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1148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41148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details that separate "knows Virtual WAN exists" from "can design with it" — treat them as first-class facts, not footnotes.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OVER EXPRESSROUTE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MACsec vs. IPsec — Two Independent Layers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34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MAC-level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IP-level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Encrypts everything on the circuit, including BGP control traffic — all-or-nothing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End-to-end, e.g. on-prem to VNet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ExpressRoute Direct only; disabled by 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ExpressRoute Direct 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your own key, stored in Azure Key Vault — you own rotation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8862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68680" y="38862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MACsec is pre-shared-key only — updating the key means updating both sides. A mismatch breaks traffic; plan a maintenance window.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FIREWALLS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Settings on PaaS Resources (Azure Storage Example)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4630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firewall rules are enforced across every protocol that can reach the account, including REST and SMB — but the default allows all networks.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231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Portal: Networking blade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07208"/>
            <a:ext cx="525780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Network Access — All networks (default), Selected networks + IPs, or Disabled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Routing — Microsoft Network Routing (enter near the client) vs. Internet Routing (enter near the storage endpoint)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4231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— quick lockdown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283464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0B163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2999232"/>
            <a:ext cx="480060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Update-AzStorageAccountNetworkRuleSet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-ResourceGroupName "MyRG" -Name "mystorage"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-DefaultAction Deny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2976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" y="429768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Network Access starts wide open — locking it to Selected networks or Disabled is something you do, not something you inherit.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WATCHER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Tools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4630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IaaS — VMs, VNets, App Gateways, load balancers. Not for PaaS resources or web analytics.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Flow Verify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Simulates a packet; returns allow/deny against NSG + Azure Virtual Network Manager admin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Hop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next hop type, IP, and route table ID for a destination — confirms whether routing is actually as intended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Security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combined inbound/outbound rules actually enforced on a NIC (security + admin rules together)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Troubleshoot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Root-causes connectivity issues, distinguishing platform problems from user misconfiguration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NSG Diagnostics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traffic permission logic; verify NSG rule configuration is correct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Troubleshoot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 gateway/connection issues — via Portal, PowerShell, CLI, or 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Capture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traffic to/from a VM or scale set for deep, proactive or reactive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WATCHER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Traffic Tools</a:t>
            </a:r>
            <a:endParaRPr lang="en-US" sz="2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Monitor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connection monitoring across hybrid and Azure-native deployments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map of network infrastructure, spanning subscriptions, resource groups, and regions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Logs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definitive record of all network activity — throughput, compliance, intrusion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Analyzes flow log data for traffic pattern and dynamics insight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2062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68680" y="42062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to ask yourself for each exam scenario: which of these eleven tools actually answers what's being asked?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light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TIPS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Callouts Worth Remembering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719072"/>
            <a:ext cx="548640" cy="54864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8" name="Image 1" descr="icons/lightbul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50" y="1795882"/>
            <a:ext cx="395021" cy="3950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2763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— pay close attention to subnet IP scenarios and potential connectivity issues from misconfiguration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496312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777240" y="2587752"/>
            <a:ext cx="548640" cy="54864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12" name="Image 2" descr="icons/lightbul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2664562"/>
            <a:ext cx="395021" cy="39502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249631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scenarios — the exam usually hinges on a route that's missing or misconfigured, not one that's wrong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364992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5" name="Shape 10"/>
          <p:cNvSpPr/>
          <p:nvPr/>
        </p:nvSpPr>
        <p:spPr>
          <a:xfrm>
            <a:off x="777240" y="3456432"/>
            <a:ext cx="548640" cy="54864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16" name="Image 3" descr="icons/light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50" y="3533242"/>
            <a:ext cx="395021" cy="39502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336499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protocol scenarios — read for which protocol is ruled out by client OS, gateway SKU, or firewall constraints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4233672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9" name="Shape 13"/>
          <p:cNvSpPr/>
          <p:nvPr/>
        </p:nvSpPr>
        <p:spPr>
          <a:xfrm>
            <a:off x="777240" y="4325112"/>
            <a:ext cx="548640" cy="54864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20" name="Image 4" descr="icons/lightbul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50" y="4401922"/>
            <a:ext cx="395021" cy="3950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508760" y="423367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 — review the official migration/use-case scenarios, not just the feature list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48640" y="5102352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23" name="Shape 16"/>
          <p:cNvSpPr/>
          <p:nvPr/>
        </p:nvSpPr>
        <p:spPr>
          <a:xfrm>
            <a:off x="777240" y="5193792"/>
            <a:ext cx="548640" cy="54864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24" name="Image 5" descr="icons/lightbulb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50" y="5270602"/>
            <a:ext cx="395021" cy="395021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508760" y="510235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Watcher — the test is usually about picking the right diagnostic tool for the scenario, not just knowing they all exist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clipboard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513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411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85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Ideas to Carry Into the Exam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719072"/>
            <a:ext cx="548640" cy="54864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8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30" y="1795882"/>
            <a:ext cx="395021" cy="3950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27632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Peering ≠ segmentation — AllowVNetInBound is open by default and has to be deliberately overridden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63640" y="1627632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6446520" y="1719072"/>
            <a:ext cx="548640" cy="54864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12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0" y="1795882"/>
            <a:ext cx="395021" cy="39502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23760" y="1627632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ASGs reference a role, not an IP — but only one ASG per source and one per destination, per rule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044952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</p:sp>
      <p:sp>
        <p:nvSpPr>
          <p:cNvPr id="15" name="Shape 10"/>
          <p:cNvSpPr/>
          <p:nvPr/>
        </p:nvSpPr>
        <p:spPr>
          <a:xfrm>
            <a:off x="731520" y="3136392"/>
            <a:ext cx="548640" cy="54864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16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30" y="3213202"/>
            <a:ext cx="395021" cy="39502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3044952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routes beat default system routes — only when the more specific route actually exists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3044952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</p:sp>
      <p:sp>
        <p:nvSpPr>
          <p:cNvPr id="19" name="Shape 13"/>
          <p:cNvSpPr/>
          <p:nvPr/>
        </p:nvSpPr>
        <p:spPr>
          <a:xfrm>
            <a:off x="6446520" y="3136392"/>
            <a:ext cx="548640" cy="54864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20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30" y="3213202"/>
            <a:ext cx="395021" cy="3950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23760" y="3044952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P2S auth method is constrained by protocol, gateway SKU, and client OS — not just preference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48640" y="4462272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</p:sp>
      <p:sp>
        <p:nvSpPr>
          <p:cNvPr id="23" name="Shape 16"/>
          <p:cNvSpPr/>
          <p:nvPr/>
        </p:nvSpPr>
        <p:spPr>
          <a:xfrm>
            <a:off x="731520" y="4553712"/>
            <a:ext cx="548640" cy="54864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24" name="Image 5" descr="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30" y="4630522"/>
            <a:ext cx="395021" cy="395021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508760" y="4462272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 has its own rules — a spoke on a hub can't also carry its own gateway or route server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263640" y="4462272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</p:sp>
      <p:sp>
        <p:nvSpPr>
          <p:cNvPr id="27" name="Shape 19"/>
          <p:cNvSpPr/>
          <p:nvPr/>
        </p:nvSpPr>
        <p:spPr>
          <a:xfrm>
            <a:off x="6446520" y="4553712"/>
            <a:ext cx="548640" cy="54864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28" name="Image 6" descr="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330" y="4630522"/>
            <a:ext cx="395021" cy="395021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223760" y="4462272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Watcher is eleven distinct tools — matching the right one to the scenario is the actual skill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463040"/>
            <a:ext cx="1005840" cy="100584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3" name="Image 0" descr="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5778" y="1603858"/>
            <a:ext cx="724205" cy="7242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737360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AZ-500 Skill 2.1 — Virtual Network Security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61264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Poyzer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2026-09-24T01:08:37Z</dcterms:created>
  <dcterms:modified xsi:type="dcterms:W3CDTF">2026-09-24T01:08:37Z</dcterms:modified>
</cp:coreProperties>
</file>