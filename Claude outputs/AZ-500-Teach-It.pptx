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AllowVnetInBound quirk first — it surprises people who assume peering = isolated by default. Mention ASGs as the 'why bother' payoff: rules reference roles, not 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spot for a quick live-portal glance at the rule collection groups if time allows. Emphasize FQDN tags over open wildcard rules — that's a common exam trap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subtlest concept in the deck — worth slowing down. The peering system route and the UDR are both /16, so it's genuinely a coin flip without the explicit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that a hardcoded secret was actually found and fixed during this review — good real-world example of why you re-read old scripts, not just build new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place to show an actual flow log screenshot or IP Flow Verify result if the team wants specifics — keep this deck conceptual, but have the evidence ready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tends to spark discussion — good spot to ask the room how they'd weigh this tradeoff for a production workload instead of a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40080"/>
            <a:ext cx="1371600" cy="1371600"/>
          </a:xfrm>
          <a:prstGeom prst="ellipse">
            <a:avLst/>
          </a:prstGeom>
          <a:solidFill>
            <a:srgbClr val="1222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920240"/>
            <a:ext cx="822960" cy="822960"/>
          </a:xfrm>
          <a:prstGeom prst="ellipse">
            <a:avLst/>
          </a:prstGeom>
          <a:solidFill>
            <a:srgbClr val="12224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2103120"/>
            <a:ext cx="822960" cy="822960"/>
          </a:xfrm>
          <a:prstGeom prst="ellipse">
            <a:avLst/>
          </a:prstGeom>
          <a:solidFill>
            <a:srgbClr val="12224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46920" y="1325880"/>
            <a:ext cx="594360" cy="640080"/>
          </a:xfrm>
          <a:prstGeom prst="line">
            <a:avLst/>
          </a:prstGeom>
          <a:noFill/>
          <a:ln w="25400">
            <a:solidFill>
              <a:srgbClr val="12224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652760" y="1325880"/>
            <a:ext cx="594360" cy="685800"/>
          </a:xfrm>
          <a:prstGeom prst="line">
            <a:avLst/>
          </a:prstGeom>
          <a:noFill/>
          <a:ln w="25400">
            <a:solidFill>
              <a:srgbClr val="12224F">
                <a:alpha val="6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TEACH-IT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Securing the Hub-Spoke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AZ-500 Secure Networking domain to a real, already-running Azure environment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11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4550969"/>
            <a:ext cx="362102" cy="3621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6304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Poyzer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Largest Domain on the AZ-500 Exam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20–25%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exam weight is Secure Networking — more than any other domain on the AZ-500.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60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puts every one of those skills into a real environment — not a disposable lab.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783080"/>
            <a:ext cx="658368" cy="658368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8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1332" y="1875252"/>
            <a:ext cx="474025" cy="4740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41848" y="1737360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(NSGs &amp; ASGs)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09160" y="2715768"/>
            <a:ext cx="658368" cy="658368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1" name="Image 1" descr="icons/fi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332" y="2807940"/>
            <a:ext cx="474025" cy="4740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41848" y="2670048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709160" y="3648456"/>
            <a:ext cx="658368" cy="658368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4" name="Image 2" descr="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332" y="3740628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41848" y="3602736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709160" y="4581144"/>
            <a:ext cx="658368" cy="658368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7" name="Image 3" descr="icons/k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332" y="4673316"/>
            <a:ext cx="474025" cy="4740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41848" y="4535424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VPN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709160" y="5513832"/>
            <a:ext cx="658368" cy="658368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20" name="Image 4" descr="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332" y="5606004"/>
            <a:ext cx="474025" cy="47402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641848" y="5468112"/>
            <a:ext cx="5943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Point: A Real Hub-Spoke Topology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51960" y="3063240"/>
            <a:ext cx="2103120" cy="1188720"/>
          </a:xfrm>
          <a:prstGeom prst="line">
            <a:avLst/>
          </a:prstGeom>
          <a:noFill/>
          <a:ln w="25400">
            <a:solidFill>
              <a:srgbClr val="B8C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4251960"/>
            <a:ext cx="2103120" cy="1005840"/>
          </a:xfrm>
          <a:prstGeom prst="line">
            <a:avLst/>
          </a:prstGeom>
          <a:noFill/>
          <a:ln w="25400">
            <a:solidFill>
              <a:srgbClr val="B8C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4251960"/>
            <a:ext cx="2377440" cy="0"/>
          </a:xfrm>
          <a:prstGeom prst="line">
            <a:avLst/>
          </a:prstGeom>
          <a:noFill/>
          <a:ln w="25400">
            <a:solidFill>
              <a:srgbClr val="B8C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3840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222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3840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VNet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Gateway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651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9050">
            <a:solidFill>
              <a:srgbClr val="B8C4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651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VNet 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48463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9050">
            <a:solidFill>
              <a:srgbClr val="B8C4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4846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VNet 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3840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9050">
            <a:solidFill>
              <a:srgbClr val="B8C4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38404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(poyzerj.local)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S2S / P2S VPN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Reused, not rebuilt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15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hub-spoke topology — VNet peering, VPN Gateway, S2S/P2S connectivity — was originally built for AZ-700. It comes with real constraints a from-scratch lab wouldn't have.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66014"/>
            <a:ext cx="559613" cy="5596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74980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NSGs Don't Deny by Default — You Have To Make Them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00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Azure's built-in AllowVnetInBound rule (priority 65000) quietly permits all traffic within a peered hub-spoke's address space — including spoke-to-spoke.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implicit trust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peered VNet is not a segmented VNet by default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VM can reach every other VM unless something explicitly says otherwise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default rule sits below anything you configure, silently open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explicit deny, then allow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low-priority-number deny rule that overrides the platform default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narrow allow rules above it for exactly what's required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VMs into Application Security Groups by role, not hardcoded IP — rules keep working as the environment grows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here to three NSGs — one hub, two spokes — each locked from open-by-default to allow-by-exception.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fi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66014"/>
            <a:ext cx="559613" cy="5596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74980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Nothing by Default — Inspect Everything Centrally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00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 has no concept of a firewall in the middle — spoke-to-spoke traffic normally flows directly, uninspected.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centralize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peering means lateral traffic between spokes is invisible by default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inspection point beats trying to secure every spoke independently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 sits in the hub, managed through a single Firewall Policy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filters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rules — e.g., baseline HTTPS egress by source/destination/port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rules — FQDN tags like WindowsUpdate, no wildcard domains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— alerting on known-malicious IPs and domains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spoke-to-internet and spoke-to-spoke traffic now pass through one policy instead of two implicit, unmonitored paths.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66014"/>
            <a:ext cx="559613" cy="5596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74980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Decides Whether Inspection Actually Happens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00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you deploy but never route traffic through inspects nothing. The routing layer is what makes Slide 5 real.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Routes (UDRs)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attached to each spoke subnet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 (0.0.0.0/0) → firewall's private IP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more specific route per spoke's address space → firewall as well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that's easy to miss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resolves routing by longest-prefix match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UDR beats a system route only at equal or greater specificity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explicit /16 route and the automatic peering route quietly wins — spoke-to-spoke bypasses the firewall entirely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Network Watcher's Next Hop tool — configuration alone doesn't prove which path traffic actually takes.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66014"/>
            <a:ext cx="559613" cy="5596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74980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 the Connections That Already Existed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00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connectivity was built here — the existing Site-to-Site and Point-to-Site VPNs were hardened and mapped against this domain's requirements.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(to on-prem FortiGate)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IPsec/IKE policy instead of Azure's default proposal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AES256 / SHA256 / DH Group 14 / PFS2048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 known-strong cipher suite on both ends — not whatever the platform negotiates by default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Point-to-Site (remote admin access)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 protocol, authenticated via Microsoft Entra ID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tied to individual sign-in, not a static shared cert or key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 stronger than certificate-based P2S for remote admin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reminder that 'secure networking' isn't only new controls — reviewing what already exists is part of the domain too.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66014"/>
            <a:ext cx="559613" cy="5596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74980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Configured Isn't the Same as Confirmed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00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on the prior slides can be misconfigured invisibly. Network Watcher is how you find out before something else does.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 Flow Logs (v2) — real allow/deny records, not just rule definitions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Flow Verify — simulate a specific flow, get an allow/deny answer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Hop — confirms which route actually wins for a given path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shift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rule exists” and “the rule is firing” are different claims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negative case, not just the positive one — traffic that should be denied, confirmed denied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beats assumption in a review or an incident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on Slides 4–7 was verified this way before being called done.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3" name="Image 0" descr="icons/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54" y="566014"/>
            <a:ext cx="559613" cy="5596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749808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Control Is Worth Enabling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600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environment has two internet-facing public IPs — the VPN Gateway and the Firewall — so the DDoS tier decision is a genuine cost/benefit call, not a formality.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 Basic (free)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Platform-level, always on, zero configuration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protection for every public IP automatically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match for a lab with no production traffic or SLA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78892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 Standard (~$3,000/mo)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291840"/>
            <a:ext cx="5257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tuning, attack analytics and alerting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protection guarantee, WAF integration</a:t>
            </a:r>
            <a:endParaRPr lang="en-US" sz="1400" dirty="0"/>
          </a:p>
          <a:p>
            <a:pPr marL="203200" indent="-203200">
              <a:spcAft>
                <a:spcPts val="3400"/>
              </a:spcAft>
              <a:buSzPct val="100000"/>
              <a:buChar char="•"/>
            </a:pPr>
            <a:r>
              <a:rPr lang="en-US" sz="140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real — just not justified for this environment's actual risk profile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58064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2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engineering includes deciding what not to turn on, and writing down why — a skip needs a reason, same as an enable.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Ideas Worth Taking Back to Your Own Environment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216152"/>
          </a:xfrm>
          <a:prstGeom prst="roundRect">
            <a:avLst>
              <a:gd name="adj" fmla="val 451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0034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28800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 is not segmentation — deny-by-default has to be built deliberately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1216152"/>
          </a:xfrm>
          <a:prstGeom prst="roundRect">
            <a:avLst>
              <a:gd name="adj" fmla="val 4511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30" y="20034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828800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inspection rather than securing every spoke independently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364992"/>
            <a:ext cx="5394960" cy="1216152"/>
          </a:xfrm>
          <a:prstGeom prst="roundRect">
            <a:avLst>
              <a:gd name="adj" fmla="val 4511"/>
            </a:avLst>
          </a:prstGeom>
          <a:solidFill>
            <a:srgbClr val="F4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731520" y="3456432"/>
            <a:ext cx="594360" cy="59436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14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" y="3539642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3364992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firewall does nothing without routing that actually sends traffic to it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3364992"/>
            <a:ext cx="5394960" cy="1216152"/>
          </a:xfrm>
          <a:prstGeom prst="roundRect">
            <a:avLst>
              <a:gd name="adj" fmla="val 4511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6446520" y="3456432"/>
            <a:ext cx="594360" cy="59436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18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730" y="3539642"/>
            <a:ext cx="427939" cy="42793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9480" y="3364992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existing connections counts as much as building new ones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4901184"/>
            <a:ext cx="5394960" cy="1216152"/>
          </a:xfrm>
          <a:prstGeom prst="roundRect">
            <a:avLst>
              <a:gd name="adj" fmla="val 4511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731520" y="4992624"/>
            <a:ext cx="594360" cy="594360"/>
          </a:xfrm>
          <a:prstGeom prst="ellipse">
            <a:avLst/>
          </a:prstGeom>
          <a:solidFill>
            <a:srgbClr val="12224F"/>
          </a:solidFill>
          <a:ln/>
        </p:spPr>
      </p:sp>
      <p:pic>
        <p:nvPicPr>
          <p:cNvPr id="22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" y="5075834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54480" y="4901184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tooling — configured and confirmed are not the same claim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263640" y="4901184"/>
            <a:ext cx="5394960" cy="1216152"/>
          </a:xfrm>
          <a:prstGeom prst="roundRect">
            <a:avLst>
              <a:gd name="adj" fmla="val 4511"/>
            </a:avLst>
          </a:prstGeom>
          <a:solidFill>
            <a:srgbClr val="F4F6FB"/>
          </a:solidFill>
          <a:ln/>
        </p:spPr>
      </p:sp>
      <p:sp>
        <p:nvSpPr>
          <p:cNvPr id="25" name="Shape 18"/>
          <p:cNvSpPr/>
          <p:nvPr/>
        </p:nvSpPr>
        <p:spPr>
          <a:xfrm>
            <a:off x="6446520" y="4992624"/>
            <a:ext cx="594360" cy="59436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26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730" y="5075834"/>
            <a:ext cx="427939" cy="42793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269480" y="4901184"/>
            <a:ext cx="411480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security means documenting what you chose not to enable, too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Hub-Spoke  |  AZ-500 Secure Networking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463040"/>
            <a:ext cx="1005840" cy="1005840"/>
          </a:xfrm>
          <a:prstGeom prst="ellipse">
            <a:avLst/>
          </a:prstGeom>
          <a:solidFill>
            <a:srgbClr val="E8A93D"/>
          </a:solidFill>
          <a:ln/>
        </p:spPr>
      </p:sp>
      <p:pic>
        <p:nvPicPr>
          <p:cNvPr id="3" name="Image 0" descr="icons/shiel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5778" y="16038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73736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documentation, deploy/remove scripts, and validation evidence available on request.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6126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Poyzer  •  Securing the Hub-Spoke  •  AZ-500 Secure Networking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2026-09-19T18:19:31Z</dcterms:created>
  <dcterms:modified xsi:type="dcterms:W3CDTF">2026-09-19T18:19:31Z</dcterms:modified>
</cp:coreProperties>
</file>